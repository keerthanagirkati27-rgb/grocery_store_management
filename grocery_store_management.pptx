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60" r:id="rId5"/>
    <p:sldId id="261" r:id="rId6"/>
    <p:sldId id="262" r:id="rId7"/>
    <p:sldId id="276" r:id="rId8"/>
    <p:sldId id="277" r:id="rId9"/>
    <p:sldId id="278" r:id="rId10"/>
    <p:sldId id="279" r:id="rId11"/>
    <p:sldId id="280" r:id="rId12"/>
    <p:sldId id="281" r:id="rId13"/>
    <p:sldId id="282" r:id="rId14"/>
    <p:sldId id="283" r:id="rId15"/>
    <p:sldId id="284" r:id="rId16"/>
    <p:sldId id="285" r:id="rId17"/>
    <p:sldId id="286" r:id="rId18"/>
    <p:sldId id="287" r:id="rId19"/>
    <p:sldId id="273" r:id="rId20"/>
    <p:sldId id="275" r:id="rId21"/>
    <p:sldId id="274" r:id="rId22"/>
    <p:sldId id="288" r:id="rId23"/>
    <p:sldId id="259" r:id="rId24"/>
  </p:sldIdLst>
  <p:sldSz cx="12192000" cy="6858000"/>
  <p:notesSz cx="6858000" cy="9144000"/>
  <p:embeddedFontLst>
    <p:embeddedFont>
      <p:font typeface="Lato Black" panose="020F0502020204030203" pitchFamily="34" charset="0"/>
      <p:bold r:id="rId26"/>
      <p:boldItalic r:id="rId27"/>
    </p:embeddedFont>
    <p:embeddedFont>
      <p:font typeface="Libre Baskerville" panose="02000000000000000000" pitchFamily="2" charset="0"/>
      <p:regular r:id="rId28"/>
      <p:bold r:id="rId29"/>
      <p:italic r:id="rId30"/>
      <p:boldItalic r:id="rId31"/>
    </p:embeddedFont>
    <p:embeddedFont>
      <p:font typeface="Roboto" panose="02000000000000000000" pitchFamily="2" charset="0"/>
      <p:regular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3"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6102" autoAdjust="0"/>
    <p:restoredTop sz="94660"/>
  </p:normalViewPr>
  <p:slideViewPr>
    <p:cSldViewPr snapToGrid="0">
      <p:cViewPr varScale="1">
        <p:scale>
          <a:sx n="74" d="100"/>
          <a:sy n="74" d="100"/>
        </p:scale>
        <p:origin x="72" y="1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9</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908469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keerthanagirkati27-rgb"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www.linkedin.com/in/girkati-keerthana-7a1b39353"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xml"/><Relationship Id="rId5" Type="http://schemas.openxmlformats.org/officeDocument/2006/relationships/image" Target="../media/image29.pn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xml"/><Relationship Id="rId5" Type="http://schemas.openxmlformats.org/officeDocument/2006/relationships/image" Target="../media/image33.png"/><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3.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3.xml"/><Relationship Id="rId5" Type="http://schemas.openxmlformats.org/officeDocument/2006/relationships/image" Target="../media/image43.png"/><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3.xml"/><Relationship Id="rId5" Type="http://schemas.openxmlformats.org/officeDocument/2006/relationships/image" Target="../media/image47.png"/><Relationship Id="rId4" Type="http://schemas.openxmlformats.org/officeDocument/2006/relationships/image" Target="../media/image46.png"/></Relationships>
</file>

<file path=ppt/slides/_rels/slide1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3.xml"/><Relationship Id="rId5" Type="http://schemas.openxmlformats.org/officeDocument/2006/relationships/image" Target="../media/image51.png"/><Relationship Id="rId4" Type="http://schemas.openxmlformats.org/officeDocument/2006/relationships/image" Target="../media/image50.png"/></Relationships>
</file>

<file path=ppt/slides/_rels/slide1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0" y="81951"/>
            <a:ext cx="12190815" cy="6694098"/>
          </a:xfrm>
          <a:prstGeom prst="rect">
            <a:avLst/>
          </a:prstGeom>
          <a:noFill/>
          <a:ln>
            <a:noFill/>
          </a:ln>
        </p:spPr>
      </p:pic>
      <p:sp>
        <p:nvSpPr>
          <p:cNvPr id="99" name="Google Shape;99;p1"/>
          <p:cNvSpPr txBox="1"/>
          <p:nvPr/>
        </p:nvSpPr>
        <p:spPr>
          <a:xfrm>
            <a:off x="2295923" y="3599999"/>
            <a:ext cx="7246189" cy="461624"/>
          </a:xfrm>
          <a:prstGeom prst="rect">
            <a:avLst/>
          </a:prstGeom>
          <a:noFill/>
          <a:ln>
            <a:noFill/>
          </a:ln>
        </p:spPr>
        <p:txBody>
          <a:bodyPr spcFirstLastPara="1" wrap="square" lIns="91425" tIns="45700" rIns="91425" bIns="45700" anchor="t" anchorCtr="0">
            <a:spAutoFit/>
          </a:bodyPr>
          <a:lstStyle/>
          <a:p>
            <a:pPr lvl="0" algn="ctr">
              <a:buSzPts val="1800"/>
            </a:pPr>
            <a:r>
              <a:rPr lang="en-IN" sz="2400" b="1" dirty="0"/>
              <a:t>Grocery Store Management </a:t>
            </a:r>
            <a:endParaRPr sz="2400" b="1" i="0" u="none" strike="noStrike" cap="none" dirty="0">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id="{368FFF7B-4547-2B63-887E-796614C8C96A}"/>
              </a:ext>
            </a:extLst>
          </p:cNvPr>
          <p:cNvSpPr txBox="1"/>
          <p:nvPr/>
        </p:nvSpPr>
        <p:spPr>
          <a:xfrm>
            <a:off x="8268928" y="5193194"/>
            <a:ext cx="3224982" cy="1015663"/>
          </a:xfrm>
          <a:prstGeom prst="rect">
            <a:avLst/>
          </a:prstGeom>
          <a:noFill/>
        </p:spPr>
        <p:txBody>
          <a:bodyPr wrap="square" rtlCol="0">
            <a:spAutoFit/>
          </a:bodyPr>
          <a:lstStyle/>
          <a:p>
            <a:r>
              <a:rPr lang="en-US" sz="2000" b="1" dirty="0"/>
              <a:t>Girkati Keerthana</a:t>
            </a:r>
          </a:p>
          <a:p>
            <a:endParaRPr lang="en-US" sz="2000" dirty="0"/>
          </a:p>
          <a:p>
            <a:r>
              <a:rPr lang="en-US" sz="2000" b="1" dirty="0"/>
              <a:t>Batch:484</a:t>
            </a:r>
            <a:endParaRPr lang="en-IN" sz="20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855799" y="1269675"/>
            <a:ext cx="10146498" cy="3231614"/>
          </a:xfrm>
          <a:prstGeom prst="rect">
            <a:avLst/>
          </a:prstGeom>
          <a:noFill/>
          <a:ln>
            <a:noFill/>
          </a:ln>
        </p:spPr>
        <p:txBody>
          <a:bodyPr spcFirstLastPara="1" wrap="square" lIns="91425" tIns="45700" rIns="91425" bIns="45700" anchor="t" anchorCtr="0">
            <a:spAutoFit/>
          </a:bodyPr>
          <a:lstStyle/>
          <a:p>
            <a:pPr marL="285750" lvl="0" indent="-330200" algn="just">
              <a:lnSpc>
                <a:spcPct val="150000"/>
              </a:lnSpc>
              <a:buClr>
                <a:schemeClr val="dk1"/>
              </a:buClr>
              <a:buSzPts val="3100"/>
              <a:buFont typeface="Calibri"/>
              <a:buChar char="•"/>
            </a:pPr>
            <a:r>
              <a:rPr lang="en-US" sz="2400" dirty="0">
                <a:solidFill>
                  <a:schemeClr val="dk1"/>
                </a:solidFill>
                <a:latin typeface="Calibri"/>
                <a:ea typeface="Calibri"/>
                <a:cs typeface="Calibri"/>
                <a:sym typeface="Calibri"/>
              </a:rPr>
              <a:t>I am B.Tech Graduate.</a:t>
            </a:r>
          </a:p>
          <a:p>
            <a:pPr marL="285750" lvl="0" indent="-330200" algn="just">
              <a:lnSpc>
                <a:spcPct val="150000"/>
              </a:lnSpc>
              <a:buClr>
                <a:schemeClr val="dk1"/>
              </a:buClr>
              <a:buSzPts val="3100"/>
              <a:buFont typeface="Calibri"/>
              <a:buChar char="•"/>
            </a:pPr>
            <a:r>
              <a:rPr lang="en-US" sz="2400" dirty="0">
                <a:solidFill>
                  <a:schemeClr val="dk1"/>
                </a:solidFill>
                <a:latin typeface="Calibri"/>
                <a:ea typeface="Calibri"/>
                <a:cs typeface="Calibri"/>
                <a:sym typeface="Calibri"/>
              </a:rPr>
              <a:t>I want to learn data analysis to uncover meaningful insights from raw information and make smarter decisions.</a:t>
            </a:r>
          </a:p>
          <a:p>
            <a:pPr marL="285750" lvl="0" indent="-285750" algn="just">
              <a:lnSpc>
                <a:spcPct val="150000"/>
              </a:lnSpc>
              <a:buClr>
                <a:schemeClr val="dk1"/>
              </a:buClr>
              <a:buSzPts val="2400"/>
              <a:buFont typeface="Calibri"/>
              <a:buChar char="•"/>
            </a:pPr>
            <a:r>
              <a:rPr lang="en-US" sz="2400" dirty="0">
                <a:solidFill>
                  <a:schemeClr val="dk1"/>
                </a:solidFill>
                <a:latin typeface="Calibri"/>
                <a:ea typeface="Calibri"/>
                <a:cs typeface="Calibri"/>
                <a:sym typeface="Calibri"/>
              </a:rPr>
              <a:t>Github: </a:t>
            </a:r>
            <a:r>
              <a:rPr lang="en-US" u="sng" dirty="0">
                <a:solidFill>
                  <a:schemeClr val="hlink"/>
                </a:solidFill>
                <a:hlinkClick r:id="rId3"/>
              </a:rPr>
              <a:t>keerthanagirkati27-rgb</a:t>
            </a:r>
            <a:endParaRPr lang="en-US" sz="2400" dirty="0">
              <a:solidFill>
                <a:schemeClr val="dk1"/>
              </a:solidFill>
              <a:latin typeface="Calibri"/>
              <a:ea typeface="Calibri"/>
              <a:cs typeface="Calibri"/>
              <a:sym typeface="Calibri"/>
            </a:endParaRPr>
          </a:p>
          <a:p>
            <a:pPr marL="285750" lvl="0" indent="-285750" algn="just">
              <a:lnSpc>
                <a:spcPct val="150000"/>
              </a:lnSpc>
              <a:buClr>
                <a:schemeClr val="dk1"/>
              </a:buClr>
              <a:buSzPts val="2400"/>
              <a:buFont typeface="Calibri"/>
              <a:buChar char="•"/>
            </a:pPr>
            <a:r>
              <a:rPr lang="en-US" sz="2400" dirty="0">
                <a:solidFill>
                  <a:schemeClr val="dk1"/>
                </a:solidFill>
                <a:latin typeface="Calibri"/>
                <a:ea typeface="Calibri"/>
                <a:cs typeface="Calibri"/>
                <a:sym typeface="Calibri"/>
              </a:rPr>
              <a:t>LinkedIn:</a:t>
            </a:r>
            <a:r>
              <a:rPr lang="en-US" sz="2400" b="1" dirty="0">
                <a:solidFill>
                  <a:schemeClr val="dk1"/>
                </a:solidFill>
                <a:latin typeface="Calibri"/>
                <a:ea typeface="Calibri"/>
                <a:cs typeface="Calibri"/>
                <a:sym typeface="Calibri"/>
              </a:rPr>
              <a:t> </a:t>
            </a:r>
            <a:r>
              <a:rPr lang="en-US" u="sng" dirty="0">
                <a:solidFill>
                  <a:schemeClr val="hlink"/>
                </a:solidFill>
                <a:highlight>
                  <a:srgbClr val="FFFFFF"/>
                </a:highlight>
                <a:latin typeface="Roboto"/>
                <a:ea typeface="Roboto"/>
                <a:cs typeface="Roboto"/>
                <a:sym typeface="Roboto"/>
                <a:hlinkClick r:id="rId4"/>
              </a:rPr>
              <a:t>www.linkedin.com/in/girkati-keerthana-7a1b39353</a:t>
            </a:r>
            <a:endParaRPr lang="en-US" sz="2400" b="1" dirty="0">
              <a:solidFill>
                <a:schemeClr val="dk1"/>
              </a:solidFill>
              <a:latin typeface="Calibri"/>
              <a:ea typeface="Calibri"/>
              <a:cs typeface="Calibri"/>
              <a:sym typeface="Calibri"/>
            </a:endParaRPr>
          </a:p>
          <a:p>
            <a:pPr marL="285750" marR="0" lvl="0" indent="-323850" algn="l" rtl="0">
              <a:lnSpc>
                <a:spcPct val="100000"/>
              </a:lnSpc>
              <a:spcBef>
                <a:spcPts val="0"/>
              </a:spcBef>
              <a:spcAft>
                <a:spcPts val="0"/>
              </a:spcAft>
              <a:buClr>
                <a:schemeClr val="dk1"/>
              </a:buClr>
              <a:buSzPts val="2400"/>
              <a:buFont typeface="Arial"/>
              <a:buChar char="•"/>
            </a:pPr>
            <a:endParaRPr sz="2400" b="1" i="0" u="none" strike="noStrike" cap="none" dirty="0">
              <a:solidFill>
                <a:schemeClr val="dk1"/>
              </a:solidFill>
              <a:latin typeface="Calibri"/>
              <a:ea typeface="Calibri"/>
              <a:cs typeface="Calibri"/>
              <a:sym typeface="Calibri"/>
            </a:endParaRPr>
          </a:p>
        </p:txBody>
      </p:sp>
      <p:sp>
        <p:nvSpPr>
          <p:cNvPr id="105" name="Google Shape;105;p3"/>
          <p:cNvSpPr txBox="1"/>
          <p:nvPr/>
        </p:nvSpPr>
        <p:spPr>
          <a:xfrm>
            <a:off x="427656" y="416554"/>
            <a:ext cx="6099600" cy="707846"/>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About me</a:t>
            </a:r>
          </a:p>
          <a:p>
            <a:pPr marL="0" marR="0" lvl="0" indent="0" algn="l" rtl="0">
              <a:lnSpc>
                <a:spcPct val="80000"/>
              </a:lnSpc>
              <a:spcBef>
                <a:spcPts val="0"/>
              </a:spcBef>
              <a:spcAft>
                <a:spcPts val="0"/>
              </a:spcAft>
              <a:buClr>
                <a:srgbClr val="FF0000"/>
              </a:buClr>
              <a:buSzPts val="3200"/>
              <a:buFont typeface="Lato Black"/>
              <a:buNone/>
            </a:pPr>
            <a:endParaRPr sz="1800" b="0" i="0" u="none" strike="noStrike" cap="none" dirty="0">
              <a:solidFill>
                <a:srgbClr val="FF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b="1" dirty="0">
                <a:solidFill>
                  <a:srgbClr val="FF0000"/>
                </a:solidFill>
              </a:rPr>
              <a:t>Agenda</a:t>
            </a:r>
            <a:endParaRPr b="1" dirty="0">
              <a:solidFill>
                <a:srgbClr val="FF0000"/>
              </a:solidFill>
            </a:endParaRPr>
          </a:p>
        </p:txBody>
      </p:sp>
      <p:sp>
        <p:nvSpPr>
          <p:cNvPr id="111" name="Google Shape;111;p4"/>
          <p:cNvSpPr txBox="1">
            <a:spLocks noGrp="1"/>
          </p:cNvSpPr>
          <p:nvPr>
            <p:ph type="body" idx="1"/>
          </p:nvPr>
        </p:nvSpPr>
        <p:spPr>
          <a:xfrm>
            <a:off x="684880" y="1493134"/>
            <a:ext cx="10515600" cy="3708131"/>
          </a:xfrm>
          <a:prstGeom prst="rect">
            <a:avLst/>
          </a:prstGeom>
          <a:noFill/>
          <a:ln>
            <a:noFill/>
          </a:ln>
        </p:spPr>
        <p:txBody>
          <a:bodyPr spcFirstLastPara="1" wrap="square" lIns="91425" tIns="45700" rIns="91425" bIns="45700" anchor="t" anchorCtr="0">
            <a:normAutofit fontScale="92500" lnSpcReduction="10000"/>
          </a:bodyPr>
          <a:lstStyle/>
          <a:p>
            <a:pPr marL="457200" lvl="0" indent="-431800" algn="l" rtl="0">
              <a:lnSpc>
                <a:spcPct val="100000"/>
              </a:lnSpc>
              <a:spcBef>
                <a:spcPts val="1000"/>
              </a:spcBef>
              <a:spcAft>
                <a:spcPts val="0"/>
              </a:spcAft>
              <a:buSzPts val="2400"/>
              <a:buChar char="•"/>
            </a:pPr>
            <a:r>
              <a:rPr lang="en-IN" sz="2400" b="1" dirty="0"/>
              <a:t>Buissness Problem</a:t>
            </a:r>
          </a:p>
          <a:p>
            <a:pPr marL="457200" lvl="0" indent="-431800" algn="l" rtl="0">
              <a:lnSpc>
                <a:spcPct val="100000"/>
              </a:lnSpc>
              <a:spcBef>
                <a:spcPts val="1000"/>
              </a:spcBef>
              <a:spcAft>
                <a:spcPts val="0"/>
              </a:spcAft>
              <a:buSzPts val="2400"/>
              <a:buChar char="•"/>
            </a:pPr>
            <a:r>
              <a:rPr lang="en-IN" sz="2400" b="1" dirty="0"/>
              <a:t>Problem Statement</a:t>
            </a:r>
          </a:p>
          <a:p>
            <a:pPr marL="457200" lvl="0" indent="-431800" algn="l" rtl="0">
              <a:lnSpc>
                <a:spcPct val="100000"/>
              </a:lnSpc>
              <a:spcBef>
                <a:spcPts val="1000"/>
              </a:spcBef>
              <a:spcAft>
                <a:spcPts val="0"/>
              </a:spcAft>
              <a:buSzPts val="2400"/>
              <a:buChar char="•"/>
            </a:pPr>
            <a:r>
              <a:rPr lang="en-IN" sz="2400" b="1" dirty="0"/>
              <a:t>Objective</a:t>
            </a:r>
          </a:p>
          <a:p>
            <a:pPr marL="457200" lvl="0" indent="-431800" algn="l" rtl="0">
              <a:lnSpc>
                <a:spcPct val="100000"/>
              </a:lnSpc>
              <a:spcBef>
                <a:spcPts val="1000"/>
              </a:spcBef>
              <a:spcAft>
                <a:spcPts val="0"/>
              </a:spcAft>
              <a:buSzPts val="2400"/>
              <a:buChar char="•"/>
            </a:pPr>
            <a:r>
              <a:rPr lang="en-IN" sz="2400" b="1" dirty="0"/>
              <a:t>ER Diagram</a:t>
            </a:r>
          </a:p>
          <a:p>
            <a:pPr marL="457200" lvl="0" indent="-431800" algn="l" rtl="0">
              <a:lnSpc>
                <a:spcPct val="100000"/>
              </a:lnSpc>
              <a:spcBef>
                <a:spcPts val="1000"/>
              </a:spcBef>
              <a:spcAft>
                <a:spcPts val="0"/>
              </a:spcAft>
              <a:buSzPts val="2400"/>
              <a:buChar char="•"/>
            </a:pPr>
            <a:r>
              <a:rPr lang="en-IN" sz="2400" b="1" dirty="0"/>
              <a:t>Queries</a:t>
            </a:r>
          </a:p>
          <a:p>
            <a:pPr marL="457200" lvl="0" indent="-431800" algn="l" rtl="0">
              <a:lnSpc>
                <a:spcPct val="100000"/>
              </a:lnSpc>
              <a:spcBef>
                <a:spcPts val="1000"/>
              </a:spcBef>
              <a:spcAft>
                <a:spcPts val="0"/>
              </a:spcAft>
              <a:buSzPts val="2400"/>
              <a:buChar char="•"/>
            </a:pPr>
            <a:r>
              <a:rPr lang="en-IN" sz="2400" b="1" dirty="0"/>
              <a:t>Challenges</a:t>
            </a:r>
          </a:p>
          <a:p>
            <a:pPr marL="457200" lvl="0" indent="-431800" algn="l" rtl="0">
              <a:lnSpc>
                <a:spcPct val="100000"/>
              </a:lnSpc>
              <a:spcBef>
                <a:spcPts val="1000"/>
              </a:spcBef>
              <a:spcAft>
                <a:spcPts val="0"/>
              </a:spcAft>
              <a:buSzPts val="2400"/>
              <a:buChar char="•"/>
            </a:pPr>
            <a:r>
              <a:rPr lang="en-IN" sz="2400" b="1" dirty="0"/>
              <a:t>Conclusion</a:t>
            </a:r>
          </a:p>
          <a:p>
            <a:pPr marL="457200" lvl="0" indent="-431800" algn="l" rtl="0">
              <a:lnSpc>
                <a:spcPct val="100000"/>
              </a:lnSpc>
              <a:spcBef>
                <a:spcPts val="1000"/>
              </a:spcBef>
              <a:spcAft>
                <a:spcPts val="0"/>
              </a:spcAft>
              <a:buSzPts val="2400"/>
              <a:buChar char="•"/>
            </a:pPr>
            <a:r>
              <a:rPr lang="en-IN" sz="2400" b="1" dirty="0"/>
              <a:t>Recommendations</a:t>
            </a:r>
            <a:endParaRPr lang="en-IN"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E0ED9-1CE0-B556-CC87-25918174CB6C}"/>
              </a:ext>
            </a:extLst>
          </p:cNvPr>
          <p:cNvSpPr>
            <a:spLocks noGrp="1"/>
          </p:cNvSpPr>
          <p:nvPr>
            <p:ph type="title"/>
          </p:nvPr>
        </p:nvSpPr>
        <p:spPr>
          <a:xfrm>
            <a:off x="838200" y="365126"/>
            <a:ext cx="10515600" cy="588604"/>
          </a:xfrm>
        </p:spPr>
        <p:txBody>
          <a:bodyPr>
            <a:normAutofit/>
          </a:bodyPr>
          <a:lstStyle/>
          <a:p>
            <a:r>
              <a:rPr lang="en-US" sz="3600" b="1" dirty="0">
                <a:solidFill>
                  <a:srgbClr val="FF0000"/>
                </a:solidFill>
              </a:rPr>
              <a:t>Buissness Problem</a:t>
            </a:r>
            <a:endParaRPr lang="en-IN" sz="3600" b="1" dirty="0">
              <a:solidFill>
                <a:srgbClr val="FF0000"/>
              </a:solidFill>
            </a:endParaRPr>
          </a:p>
        </p:txBody>
      </p:sp>
      <p:sp>
        <p:nvSpPr>
          <p:cNvPr id="3" name="Text Placeholder 2">
            <a:extLst>
              <a:ext uri="{FF2B5EF4-FFF2-40B4-BE49-F238E27FC236}">
                <a16:creationId xmlns:a16="http://schemas.microsoft.com/office/drawing/2014/main" id="{56FD1C1D-5F50-9ADD-5D77-FE0612BF4C49}"/>
              </a:ext>
            </a:extLst>
          </p:cNvPr>
          <p:cNvSpPr>
            <a:spLocks noGrp="1"/>
          </p:cNvSpPr>
          <p:nvPr>
            <p:ph type="body" idx="1"/>
          </p:nvPr>
        </p:nvSpPr>
        <p:spPr>
          <a:xfrm>
            <a:off x="838200" y="953730"/>
            <a:ext cx="10515600" cy="5223233"/>
          </a:xfrm>
        </p:spPr>
        <p:txBody>
          <a:bodyPr>
            <a:normAutofit/>
          </a:bodyPr>
          <a:lstStyle/>
          <a:p>
            <a:pPr>
              <a:lnSpc>
                <a:spcPct val="100000"/>
              </a:lnSpc>
            </a:pPr>
            <a:r>
              <a:rPr lang="en-US" sz="2400" dirty="0"/>
              <a:t>Grocery stores face challenges in managing inventory, suppliers, employees, and customer orders efficiently. Without proper analysis, they struggle to identify top customers, best‑selling products, revenue trends, and employee performance, which limits their ability to optimize operations and improve profitability.</a:t>
            </a:r>
          </a:p>
          <a:p>
            <a:pPr marL="114300" indent="0">
              <a:lnSpc>
                <a:spcPct val="100000"/>
              </a:lnSpc>
              <a:buNone/>
            </a:pPr>
            <a:endParaRPr lang="en-US" sz="2400" dirty="0"/>
          </a:p>
          <a:p>
            <a:pPr marL="114300" indent="0">
              <a:buNone/>
            </a:pPr>
            <a:r>
              <a:rPr lang="en-US" sz="3600" b="1" dirty="0">
                <a:solidFill>
                  <a:srgbClr val="FF0000"/>
                </a:solidFill>
              </a:rPr>
              <a:t>Problem Statement</a:t>
            </a:r>
          </a:p>
          <a:p>
            <a:pPr algn="just">
              <a:buFont typeface="Arial" panose="020B0604020202020204" pitchFamily="34" charset="0"/>
              <a:buChar char="•"/>
            </a:pPr>
            <a:r>
              <a:rPr lang="en-US" sz="2400" dirty="0"/>
              <a:t>The grocery store lacks a structured system to analyze customer behavior, product performance, supplier contributions, and employee efficiency. This makes it difficult to track sales trends, understand purchasing patterns, and ensure data consistency across multiple tables with complex relationships.</a:t>
            </a:r>
          </a:p>
          <a:p>
            <a:pPr marL="114300" indent="0">
              <a:buNone/>
            </a:pPr>
            <a:endParaRPr lang="en-US" dirty="0"/>
          </a:p>
          <a:p>
            <a:pPr marL="114300" indent="0">
              <a:buNone/>
            </a:pPr>
            <a:endParaRPr lang="en-US" dirty="0"/>
          </a:p>
        </p:txBody>
      </p:sp>
    </p:spTree>
    <p:extLst>
      <p:ext uri="{BB962C8B-B14F-4D97-AF65-F5344CB8AC3E}">
        <p14:creationId xmlns:p14="http://schemas.microsoft.com/office/powerpoint/2010/main" val="17589260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0CD65-1730-0532-07A0-53AB615DDEC2}"/>
              </a:ext>
            </a:extLst>
          </p:cNvPr>
          <p:cNvSpPr>
            <a:spLocks noGrp="1"/>
          </p:cNvSpPr>
          <p:nvPr>
            <p:ph type="title"/>
          </p:nvPr>
        </p:nvSpPr>
        <p:spPr/>
        <p:txBody>
          <a:bodyPr>
            <a:normAutofit/>
          </a:bodyPr>
          <a:lstStyle/>
          <a:p>
            <a:r>
              <a:rPr lang="en-US" sz="3600" b="1" dirty="0">
                <a:solidFill>
                  <a:srgbClr val="FF0000"/>
                </a:solidFill>
              </a:rPr>
              <a:t>Objective</a:t>
            </a:r>
            <a:endParaRPr lang="en-IN" sz="3600" b="1" dirty="0">
              <a:solidFill>
                <a:srgbClr val="FF0000"/>
              </a:solidFill>
            </a:endParaRPr>
          </a:p>
        </p:txBody>
      </p:sp>
      <p:sp>
        <p:nvSpPr>
          <p:cNvPr id="3" name="Text Placeholder 2">
            <a:extLst>
              <a:ext uri="{FF2B5EF4-FFF2-40B4-BE49-F238E27FC236}">
                <a16:creationId xmlns:a16="http://schemas.microsoft.com/office/drawing/2014/main" id="{8A96159C-04AB-F0F0-E5FF-A1843C301D93}"/>
              </a:ext>
            </a:extLst>
          </p:cNvPr>
          <p:cNvSpPr>
            <a:spLocks noGrp="1"/>
          </p:cNvSpPr>
          <p:nvPr>
            <p:ph type="body" idx="1"/>
          </p:nvPr>
        </p:nvSpPr>
        <p:spPr>
          <a:xfrm>
            <a:off x="838200" y="1288026"/>
            <a:ext cx="10515600" cy="4888937"/>
          </a:xfrm>
        </p:spPr>
        <p:txBody>
          <a:bodyPr>
            <a:normAutofit/>
          </a:bodyPr>
          <a:lstStyle/>
          <a:p>
            <a:pPr algn="just">
              <a:lnSpc>
                <a:spcPct val="150000"/>
              </a:lnSpc>
            </a:pPr>
            <a:r>
              <a:rPr lang="en-US" sz="2400" dirty="0"/>
              <a:t>To design and implement a relational SQL database that enables accurate tracking of customers, products, suppliers, employees, and orders. </a:t>
            </a:r>
          </a:p>
          <a:p>
            <a:pPr algn="just">
              <a:lnSpc>
                <a:spcPct val="150000"/>
              </a:lnSpc>
            </a:pPr>
            <a:r>
              <a:rPr lang="en-US" sz="2400" dirty="0"/>
              <a:t>The project aims to generate business insights such as top customers, revenue trends, product performance, and supplier contributions while overcoming challenges like complex joins, aggregation, and time‑based analysis.</a:t>
            </a:r>
            <a:endParaRPr lang="en-IN" sz="2400" dirty="0"/>
          </a:p>
        </p:txBody>
      </p:sp>
    </p:spTree>
    <p:extLst>
      <p:ext uri="{BB962C8B-B14F-4D97-AF65-F5344CB8AC3E}">
        <p14:creationId xmlns:p14="http://schemas.microsoft.com/office/powerpoint/2010/main" val="12081849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A7E40-2549-B40A-E64C-C3F69BD680B3}"/>
              </a:ext>
            </a:extLst>
          </p:cNvPr>
          <p:cNvSpPr>
            <a:spLocks noGrp="1"/>
          </p:cNvSpPr>
          <p:nvPr>
            <p:ph type="title"/>
          </p:nvPr>
        </p:nvSpPr>
        <p:spPr>
          <a:xfrm>
            <a:off x="432619" y="365126"/>
            <a:ext cx="10616381" cy="883572"/>
          </a:xfrm>
        </p:spPr>
        <p:txBody>
          <a:bodyPr/>
          <a:lstStyle/>
          <a:p>
            <a:r>
              <a:rPr lang="en-US" b="1" dirty="0">
                <a:solidFill>
                  <a:srgbClr val="FF0000"/>
                </a:solidFill>
              </a:rPr>
              <a:t>ER Diagram</a:t>
            </a:r>
            <a:endParaRPr lang="en-IN" b="1" dirty="0">
              <a:solidFill>
                <a:srgbClr val="FF0000"/>
              </a:solidFill>
            </a:endParaRPr>
          </a:p>
        </p:txBody>
      </p:sp>
      <p:pic>
        <p:nvPicPr>
          <p:cNvPr id="4" name="Picture 3">
            <a:extLst>
              <a:ext uri="{FF2B5EF4-FFF2-40B4-BE49-F238E27FC236}">
                <a16:creationId xmlns:a16="http://schemas.microsoft.com/office/drawing/2014/main" id="{97B935E9-FB1E-4610-9756-EFDA36CC6109}"/>
              </a:ext>
            </a:extLst>
          </p:cNvPr>
          <p:cNvPicPr>
            <a:picLocks noChangeAspect="1"/>
          </p:cNvPicPr>
          <p:nvPr/>
        </p:nvPicPr>
        <p:blipFill>
          <a:blip r:embed="rId2"/>
          <a:stretch>
            <a:fillRect/>
          </a:stretch>
        </p:blipFill>
        <p:spPr>
          <a:xfrm>
            <a:off x="1931987" y="1248698"/>
            <a:ext cx="7344800" cy="4610743"/>
          </a:xfrm>
          <a:prstGeom prst="rect">
            <a:avLst/>
          </a:prstGeom>
        </p:spPr>
      </p:pic>
    </p:spTree>
    <p:extLst>
      <p:ext uri="{BB962C8B-B14F-4D97-AF65-F5344CB8AC3E}">
        <p14:creationId xmlns:p14="http://schemas.microsoft.com/office/powerpoint/2010/main" val="867909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8CC2A-F2C1-09DE-2C9F-9878F09D0E5D}"/>
              </a:ext>
            </a:extLst>
          </p:cNvPr>
          <p:cNvSpPr>
            <a:spLocks noGrp="1"/>
          </p:cNvSpPr>
          <p:nvPr>
            <p:ph type="title"/>
          </p:nvPr>
        </p:nvSpPr>
        <p:spPr>
          <a:xfrm>
            <a:off x="838200" y="365125"/>
            <a:ext cx="10515600" cy="1208036"/>
          </a:xfrm>
        </p:spPr>
        <p:txBody>
          <a:bodyPr>
            <a:normAutofit/>
          </a:bodyPr>
          <a:lstStyle/>
          <a:p>
            <a:r>
              <a:rPr lang="en-US" sz="4000" b="1" dirty="0">
                <a:solidFill>
                  <a:srgbClr val="FF0000"/>
                </a:solidFill>
              </a:rPr>
              <a:t>Queries</a:t>
            </a:r>
            <a:br>
              <a:rPr lang="en-US" sz="4000" b="1" dirty="0">
                <a:solidFill>
                  <a:srgbClr val="FF0000"/>
                </a:solidFill>
              </a:rPr>
            </a:br>
            <a:r>
              <a:rPr lang="en-US" sz="2800" b="1" dirty="0">
                <a:solidFill>
                  <a:srgbClr val="FF0000"/>
                </a:solidFill>
              </a:rPr>
              <a:t>Customer Insights </a:t>
            </a:r>
            <a:endParaRPr lang="en-IN" sz="2800" b="1" dirty="0">
              <a:solidFill>
                <a:srgbClr val="FF0000"/>
              </a:solidFill>
            </a:endParaRPr>
          </a:p>
        </p:txBody>
      </p:sp>
      <p:pic>
        <p:nvPicPr>
          <p:cNvPr id="7" name="Picture 6">
            <a:extLst>
              <a:ext uri="{FF2B5EF4-FFF2-40B4-BE49-F238E27FC236}">
                <a16:creationId xmlns:a16="http://schemas.microsoft.com/office/drawing/2014/main" id="{D1F4A826-0D74-EADC-7877-BA5538766193}"/>
              </a:ext>
            </a:extLst>
          </p:cNvPr>
          <p:cNvPicPr>
            <a:picLocks noChangeAspect="1"/>
          </p:cNvPicPr>
          <p:nvPr/>
        </p:nvPicPr>
        <p:blipFill>
          <a:blip r:embed="rId2"/>
          <a:stretch>
            <a:fillRect/>
          </a:stretch>
        </p:blipFill>
        <p:spPr>
          <a:xfrm>
            <a:off x="8131630" y="1772680"/>
            <a:ext cx="1552792" cy="638264"/>
          </a:xfrm>
          <a:prstGeom prst="rect">
            <a:avLst/>
          </a:prstGeom>
        </p:spPr>
      </p:pic>
      <p:pic>
        <p:nvPicPr>
          <p:cNvPr id="11" name="Picture 10">
            <a:extLst>
              <a:ext uri="{FF2B5EF4-FFF2-40B4-BE49-F238E27FC236}">
                <a16:creationId xmlns:a16="http://schemas.microsoft.com/office/drawing/2014/main" id="{7EF9DBD6-BC1C-A7EB-5EF6-77F1D612CCA3}"/>
              </a:ext>
            </a:extLst>
          </p:cNvPr>
          <p:cNvPicPr>
            <a:picLocks noChangeAspect="1"/>
          </p:cNvPicPr>
          <p:nvPr/>
        </p:nvPicPr>
        <p:blipFill>
          <a:blip r:embed="rId3"/>
          <a:stretch>
            <a:fillRect/>
          </a:stretch>
        </p:blipFill>
        <p:spPr>
          <a:xfrm>
            <a:off x="7510540" y="3589596"/>
            <a:ext cx="3286584" cy="1428949"/>
          </a:xfrm>
          <a:prstGeom prst="rect">
            <a:avLst/>
          </a:prstGeom>
        </p:spPr>
      </p:pic>
      <p:pic>
        <p:nvPicPr>
          <p:cNvPr id="4" name="Picture 3">
            <a:extLst>
              <a:ext uri="{FF2B5EF4-FFF2-40B4-BE49-F238E27FC236}">
                <a16:creationId xmlns:a16="http://schemas.microsoft.com/office/drawing/2014/main" id="{571311B7-D0A2-DB19-393E-A32BC6B6DC7C}"/>
              </a:ext>
            </a:extLst>
          </p:cNvPr>
          <p:cNvPicPr>
            <a:picLocks noChangeAspect="1"/>
          </p:cNvPicPr>
          <p:nvPr/>
        </p:nvPicPr>
        <p:blipFill>
          <a:blip r:embed="rId4"/>
          <a:stretch>
            <a:fillRect/>
          </a:stretch>
        </p:blipFill>
        <p:spPr>
          <a:xfrm>
            <a:off x="838200" y="1772680"/>
            <a:ext cx="4591691" cy="952633"/>
          </a:xfrm>
          <a:prstGeom prst="rect">
            <a:avLst/>
          </a:prstGeom>
        </p:spPr>
      </p:pic>
      <p:pic>
        <p:nvPicPr>
          <p:cNvPr id="8" name="Picture 7">
            <a:extLst>
              <a:ext uri="{FF2B5EF4-FFF2-40B4-BE49-F238E27FC236}">
                <a16:creationId xmlns:a16="http://schemas.microsoft.com/office/drawing/2014/main" id="{101C5505-423F-E3B9-9563-976E5A0FDB78}"/>
              </a:ext>
            </a:extLst>
          </p:cNvPr>
          <p:cNvPicPr>
            <a:picLocks noChangeAspect="1"/>
          </p:cNvPicPr>
          <p:nvPr/>
        </p:nvPicPr>
        <p:blipFill>
          <a:blip r:embed="rId5"/>
          <a:stretch>
            <a:fillRect/>
          </a:stretch>
        </p:blipFill>
        <p:spPr>
          <a:xfrm>
            <a:off x="947796" y="3589596"/>
            <a:ext cx="5753903" cy="1705213"/>
          </a:xfrm>
          <a:prstGeom prst="rect">
            <a:avLst/>
          </a:prstGeom>
        </p:spPr>
      </p:pic>
    </p:spTree>
    <p:extLst>
      <p:ext uri="{BB962C8B-B14F-4D97-AF65-F5344CB8AC3E}">
        <p14:creationId xmlns:p14="http://schemas.microsoft.com/office/powerpoint/2010/main" val="40022319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5973AFB-A716-CF89-0BB8-D0A194AA990F}"/>
              </a:ext>
            </a:extLst>
          </p:cNvPr>
          <p:cNvPicPr>
            <a:picLocks noChangeAspect="1"/>
          </p:cNvPicPr>
          <p:nvPr/>
        </p:nvPicPr>
        <p:blipFill>
          <a:blip r:embed="rId2"/>
          <a:stretch>
            <a:fillRect/>
          </a:stretch>
        </p:blipFill>
        <p:spPr>
          <a:xfrm>
            <a:off x="6813755" y="659366"/>
            <a:ext cx="4229690" cy="2543530"/>
          </a:xfrm>
          <a:prstGeom prst="rect">
            <a:avLst/>
          </a:prstGeom>
        </p:spPr>
      </p:pic>
      <p:pic>
        <p:nvPicPr>
          <p:cNvPr id="11" name="Picture 10">
            <a:extLst>
              <a:ext uri="{FF2B5EF4-FFF2-40B4-BE49-F238E27FC236}">
                <a16:creationId xmlns:a16="http://schemas.microsoft.com/office/drawing/2014/main" id="{118DC7CF-6B94-27C8-C0B7-6C9606135152}"/>
              </a:ext>
            </a:extLst>
          </p:cNvPr>
          <p:cNvPicPr>
            <a:picLocks noChangeAspect="1"/>
          </p:cNvPicPr>
          <p:nvPr/>
        </p:nvPicPr>
        <p:blipFill>
          <a:blip r:embed="rId3"/>
          <a:stretch>
            <a:fillRect/>
          </a:stretch>
        </p:blipFill>
        <p:spPr>
          <a:xfrm>
            <a:off x="7000966" y="3917294"/>
            <a:ext cx="3086531" cy="1324160"/>
          </a:xfrm>
          <a:prstGeom prst="rect">
            <a:avLst/>
          </a:prstGeom>
        </p:spPr>
      </p:pic>
      <p:pic>
        <p:nvPicPr>
          <p:cNvPr id="3" name="Picture 2">
            <a:extLst>
              <a:ext uri="{FF2B5EF4-FFF2-40B4-BE49-F238E27FC236}">
                <a16:creationId xmlns:a16="http://schemas.microsoft.com/office/drawing/2014/main" id="{20A6D966-C2F8-1EAD-F4B0-B09A490E82BA}"/>
              </a:ext>
            </a:extLst>
          </p:cNvPr>
          <p:cNvPicPr>
            <a:picLocks noChangeAspect="1"/>
          </p:cNvPicPr>
          <p:nvPr/>
        </p:nvPicPr>
        <p:blipFill>
          <a:blip r:embed="rId4"/>
          <a:stretch>
            <a:fillRect/>
          </a:stretch>
        </p:blipFill>
        <p:spPr>
          <a:xfrm>
            <a:off x="501818" y="849893"/>
            <a:ext cx="6134956" cy="2353003"/>
          </a:xfrm>
          <a:prstGeom prst="rect">
            <a:avLst/>
          </a:prstGeom>
        </p:spPr>
      </p:pic>
      <p:pic>
        <p:nvPicPr>
          <p:cNvPr id="10" name="Picture 9">
            <a:extLst>
              <a:ext uri="{FF2B5EF4-FFF2-40B4-BE49-F238E27FC236}">
                <a16:creationId xmlns:a16="http://schemas.microsoft.com/office/drawing/2014/main" id="{54B8F7D0-D062-C3A3-29D0-76A08E33E6E1}"/>
              </a:ext>
            </a:extLst>
          </p:cNvPr>
          <p:cNvPicPr>
            <a:picLocks noChangeAspect="1"/>
          </p:cNvPicPr>
          <p:nvPr/>
        </p:nvPicPr>
        <p:blipFill>
          <a:blip r:embed="rId5"/>
          <a:stretch>
            <a:fillRect/>
          </a:stretch>
        </p:blipFill>
        <p:spPr>
          <a:xfrm>
            <a:off x="501818" y="3456077"/>
            <a:ext cx="6639852" cy="2305372"/>
          </a:xfrm>
          <a:prstGeom prst="rect">
            <a:avLst/>
          </a:prstGeom>
        </p:spPr>
      </p:pic>
    </p:spTree>
    <p:extLst>
      <p:ext uri="{BB962C8B-B14F-4D97-AF65-F5344CB8AC3E}">
        <p14:creationId xmlns:p14="http://schemas.microsoft.com/office/powerpoint/2010/main" val="17679286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32C6E-C624-725D-3383-725682DA0152}"/>
              </a:ext>
            </a:extLst>
          </p:cNvPr>
          <p:cNvSpPr>
            <a:spLocks noGrp="1"/>
          </p:cNvSpPr>
          <p:nvPr>
            <p:ph type="title"/>
          </p:nvPr>
        </p:nvSpPr>
        <p:spPr>
          <a:xfrm>
            <a:off x="297425" y="138984"/>
            <a:ext cx="10515600" cy="745920"/>
          </a:xfrm>
        </p:spPr>
        <p:txBody>
          <a:bodyPr>
            <a:normAutofit/>
          </a:bodyPr>
          <a:lstStyle/>
          <a:p>
            <a:r>
              <a:rPr lang="en-US" sz="3200" b="1" dirty="0">
                <a:solidFill>
                  <a:srgbClr val="FF0000"/>
                </a:solidFill>
              </a:rPr>
              <a:t>Product Performance</a:t>
            </a:r>
            <a:endParaRPr lang="en-IN" sz="3200" b="1" dirty="0">
              <a:solidFill>
                <a:srgbClr val="FF0000"/>
              </a:solidFill>
            </a:endParaRPr>
          </a:p>
        </p:txBody>
      </p:sp>
      <p:pic>
        <p:nvPicPr>
          <p:cNvPr id="9" name="Picture 8">
            <a:extLst>
              <a:ext uri="{FF2B5EF4-FFF2-40B4-BE49-F238E27FC236}">
                <a16:creationId xmlns:a16="http://schemas.microsoft.com/office/drawing/2014/main" id="{94763336-DD95-071F-2CDB-CBA71547554C}"/>
              </a:ext>
            </a:extLst>
          </p:cNvPr>
          <p:cNvPicPr>
            <a:picLocks noChangeAspect="1"/>
          </p:cNvPicPr>
          <p:nvPr/>
        </p:nvPicPr>
        <p:blipFill>
          <a:blip r:embed="rId3"/>
          <a:stretch>
            <a:fillRect/>
          </a:stretch>
        </p:blipFill>
        <p:spPr>
          <a:xfrm>
            <a:off x="7773811" y="884904"/>
            <a:ext cx="3734321" cy="1562318"/>
          </a:xfrm>
          <a:prstGeom prst="rect">
            <a:avLst/>
          </a:prstGeom>
        </p:spPr>
      </p:pic>
      <p:pic>
        <p:nvPicPr>
          <p:cNvPr id="11" name="Picture 10">
            <a:extLst>
              <a:ext uri="{FF2B5EF4-FFF2-40B4-BE49-F238E27FC236}">
                <a16:creationId xmlns:a16="http://schemas.microsoft.com/office/drawing/2014/main" id="{18C32875-29DF-9684-CA86-F0C7DB637B36}"/>
              </a:ext>
            </a:extLst>
          </p:cNvPr>
          <p:cNvPicPr>
            <a:picLocks noChangeAspect="1"/>
          </p:cNvPicPr>
          <p:nvPr/>
        </p:nvPicPr>
        <p:blipFill>
          <a:blip r:embed="rId4"/>
          <a:stretch>
            <a:fillRect/>
          </a:stretch>
        </p:blipFill>
        <p:spPr>
          <a:xfrm>
            <a:off x="7773811" y="2634642"/>
            <a:ext cx="3524742" cy="1448002"/>
          </a:xfrm>
          <a:prstGeom prst="rect">
            <a:avLst/>
          </a:prstGeom>
        </p:spPr>
      </p:pic>
      <p:pic>
        <p:nvPicPr>
          <p:cNvPr id="4" name="Picture 3">
            <a:extLst>
              <a:ext uri="{FF2B5EF4-FFF2-40B4-BE49-F238E27FC236}">
                <a16:creationId xmlns:a16="http://schemas.microsoft.com/office/drawing/2014/main" id="{9CBB231B-CB76-299B-6594-1CFA0429C009}"/>
              </a:ext>
            </a:extLst>
          </p:cNvPr>
          <p:cNvPicPr>
            <a:picLocks noChangeAspect="1"/>
          </p:cNvPicPr>
          <p:nvPr/>
        </p:nvPicPr>
        <p:blipFill>
          <a:blip r:embed="rId5"/>
          <a:stretch>
            <a:fillRect/>
          </a:stretch>
        </p:blipFill>
        <p:spPr>
          <a:xfrm>
            <a:off x="612582" y="1018274"/>
            <a:ext cx="6633792" cy="1146102"/>
          </a:xfrm>
          <a:prstGeom prst="rect">
            <a:avLst/>
          </a:prstGeom>
        </p:spPr>
      </p:pic>
      <p:pic>
        <p:nvPicPr>
          <p:cNvPr id="8" name="Picture 7">
            <a:extLst>
              <a:ext uri="{FF2B5EF4-FFF2-40B4-BE49-F238E27FC236}">
                <a16:creationId xmlns:a16="http://schemas.microsoft.com/office/drawing/2014/main" id="{4823981E-25C6-7555-4DBC-984585E88A9A}"/>
              </a:ext>
            </a:extLst>
          </p:cNvPr>
          <p:cNvPicPr>
            <a:picLocks noChangeAspect="1"/>
          </p:cNvPicPr>
          <p:nvPr/>
        </p:nvPicPr>
        <p:blipFill>
          <a:blip r:embed="rId6"/>
          <a:stretch>
            <a:fillRect/>
          </a:stretch>
        </p:blipFill>
        <p:spPr>
          <a:xfrm>
            <a:off x="540043" y="2658983"/>
            <a:ext cx="6077798" cy="1146102"/>
          </a:xfrm>
          <a:prstGeom prst="rect">
            <a:avLst/>
          </a:prstGeom>
        </p:spPr>
      </p:pic>
      <p:pic>
        <p:nvPicPr>
          <p:cNvPr id="16" name="Picture 15">
            <a:extLst>
              <a:ext uri="{FF2B5EF4-FFF2-40B4-BE49-F238E27FC236}">
                <a16:creationId xmlns:a16="http://schemas.microsoft.com/office/drawing/2014/main" id="{9ECE492C-ADA0-ED28-898B-A4D5A9AC0097}"/>
              </a:ext>
            </a:extLst>
          </p:cNvPr>
          <p:cNvPicPr>
            <a:picLocks noChangeAspect="1"/>
          </p:cNvPicPr>
          <p:nvPr/>
        </p:nvPicPr>
        <p:blipFill>
          <a:blip r:embed="rId7"/>
          <a:stretch>
            <a:fillRect/>
          </a:stretch>
        </p:blipFill>
        <p:spPr>
          <a:xfrm>
            <a:off x="612582" y="4082644"/>
            <a:ext cx="6487430" cy="1954361"/>
          </a:xfrm>
          <a:prstGeom prst="rect">
            <a:avLst/>
          </a:prstGeom>
        </p:spPr>
      </p:pic>
      <p:pic>
        <p:nvPicPr>
          <p:cNvPr id="18" name="Picture 17">
            <a:extLst>
              <a:ext uri="{FF2B5EF4-FFF2-40B4-BE49-F238E27FC236}">
                <a16:creationId xmlns:a16="http://schemas.microsoft.com/office/drawing/2014/main" id="{906EC5E4-1E52-282D-858C-CB1E286077BC}"/>
              </a:ext>
            </a:extLst>
          </p:cNvPr>
          <p:cNvPicPr>
            <a:picLocks noChangeAspect="1"/>
          </p:cNvPicPr>
          <p:nvPr/>
        </p:nvPicPr>
        <p:blipFill>
          <a:blip r:embed="rId8"/>
          <a:stretch>
            <a:fillRect/>
          </a:stretch>
        </p:blipFill>
        <p:spPr>
          <a:xfrm>
            <a:off x="7773811" y="4309394"/>
            <a:ext cx="3805607" cy="1324160"/>
          </a:xfrm>
          <a:prstGeom prst="rect">
            <a:avLst/>
          </a:prstGeom>
        </p:spPr>
      </p:pic>
    </p:spTree>
    <p:extLst>
      <p:ext uri="{BB962C8B-B14F-4D97-AF65-F5344CB8AC3E}">
        <p14:creationId xmlns:p14="http://schemas.microsoft.com/office/powerpoint/2010/main" val="10146972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C994ECB-4A27-F2CF-885E-CC5153FDAC92}"/>
              </a:ext>
            </a:extLst>
          </p:cNvPr>
          <p:cNvPicPr>
            <a:picLocks noChangeAspect="1"/>
          </p:cNvPicPr>
          <p:nvPr/>
        </p:nvPicPr>
        <p:blipFill>
          <a:blip r:embed="rId2"/>
          <a:stretch>
            <a:fillRect/>
          </a:stretch>
        </p:blipFill>
        <p:spPr>
          <a:xfrm>
            <a:off x="6986065" y="361339"/>
            <a:ext cx="3296110" cy="2524477"/>
          </a:xfrm>
          <a:prstGeom prst="rect">
            <a:avLst/>
          </a:prstGeom>
        </p:spPr>
      </p:pic>
      <p:pic>
        <p:nvPicPr>
          <p:cNvPr id="11" name="Picture 10">
            <a:extLst>
              <a:ext uri="{FF2B5EF4-FFF2-40B4-BE49-F238E27FC236}">
                <a16:creationId xmlns:a16="http://schemas.microsoft.com/office/drawing/2014/main" id="{3C9D920C-59CB-4330-2416-9BB50D8F1525}"/>
              </a:ext>
            </a:extLst>
          </p:cNvPr>
          <p:cNvPicPr>
            <a:picLocks noChangeAspect="1"/>
          </p:cNvPicPr>
          <p:nvPr/>
        </p:nvPicPr>
        <p:blipFill>
          <a:blip r:embed="rId3"/>
          <a:stretch>
            <a:fillRect/>
          </a:stretch>
        </p:blipFill>
        <p:spPr>
          <a:xfrm>
            <a:off x="6986065" y="3162446"/>
            <a:ext cx="4629796" cy="2524477"/>
          </a:xfrm>
          <a:prstGeom prst="rect">
            <a:avLst/>
          </a:prstGeom>
        </p:spPr>
      </p:pic>
      <p:pic>
        <p:nvPicPr>
          <p:cNvPr id="3" name="Picture 2">
            <a:extLst>
              <a:ext uri="{FF2B5EF4-FFF2-40B4-BE49-F238E27FC236}">
                <a16:creationId xmlns:a16="http://schemas.microsoft.com/office/drawing/2014/main" id="{E917A9F4-1C8A-A6A4-84E8-1E1AF72FFB29}"/>
              </a:ext>
            </a:extLst>
          </p:cNvPr>
          <p:cNvPicPr>
            <a:picLocks noChangeAspect="1"/>
          </p:cNvPicPr>
          <p:nvPr/>
        </p:nvPicPr>
        <p:blipFill>
          <a:blip r:embed="rId4"/>
          <a:stretch>
            <a:fillRect/>
          </a:stretch>
        </p:blipFill>
        <p:spPr>
          <a:xfrm>
            <a:off x="682284" y="813840"/>
            <a:ext cx="6363588" cy="1619476"/>
          </a:xfrm>
          <a:prstGeom prst="rect">
            <a:avLst/>
          </a:prstGeom>
        </p:spPr>
      </p:pic>
      <p:pic>
        <p:nvPicPr>
          <p:cNvPr id="6" name="Picture 5">
            <a:extLst>
              <a:ext uri="{FF2B5EF4-FFF2-40B4-BE49-F238E27FC236}">
                <a16:creationId xmlns:a16="http://schemas.microsoft.com/office/drawing/2014/main" id="{6524B2A3-4667-DDEB-4B3F-C8229CC02197}"/>
              </a:ext>
            </a:extLst>
          </p:cNvPr>
          <p:cNvPicPr>
            <a:picLocks noChangeAspect="1"/>
          </p:cNvPicPr>
          <p:nvPr/>
        </p:nvPicPr>
        <p:blipFill>
          <a:blip r:embed="rId5"/>
          <a:stretch>
            <a:fillRect/>
          </a:stretch>
        </p:blipFill>
        <p:spPr>
          <a:xfrm>
            <a:off x="576139" y="3176556"/>
            <a:ext cx="5696842" cy="2648320"/>
          </a:xfrm>
          <a:prstGeom prst="rect">
            <a:avLst/>
          </a:prstGeom>
        </p:spPr>
      </p:pic>
    </p:spTree>
    <p:extLst>
      <p:ext uri="{BB962C8B-B14F-4D97-AF65-F5344CB8AC3E}">
        <p14:creationId xmlns:p14="http://schemas.microsoft.com/office/powerpoint/2010/main" val="30384584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228B7-031C-2F9F-DA4B-F00444292914}"/>
              </a:ext>
            </a:extLst>
          </p:cNvPr>
          <p:cNvSpPr>
            <a:spLocks noGrp="1"/>
          </p:cNvSpPr>
          <p:nvPr>
            <p:ph type="title"/>
          </p:nvPr>
        </p:nvSpPr>
        <p:spPr>
          <a:xfrm>
            <a:off x="560439" y="365126"/>
            <a:ext cx="10793361" cy="568940"/>
          </a:xfrm>
        </p:spPr>
        <p:txBody>
          <a:bodyPr>
            <a:normAutofit/>
          </a:bodyPr>
          <a:lstStyle/>
          <a:p>
            <a:r>
              <a:rPr lang="en-IN" sz="2800" b="1" dirty="0">
                <a:solidFill>
                  <a:srgbClr val="FF0000"/>
                </a:solidFill>
              </a:rPr>
              <a:t> Sales and Order Trends </a:t>
            </a:r>
          </a:p>
        </p:txBody>
      </p:sp>
      <p:pic>
        <p:nvPicPr>
          <p:cNvPr id="7" name="Picture 6">
            <a:extLst>
              <a:ext uri="{FF2B5EF4-FFF2-40B4-BE49-F238E27FC236}">
                <a16:creationId xmlns:a16="http://schemas.microsoft.com/office/drawing/2014/main" id="{FCEEA10B-CD4C-C34C-2223-D73047309BE0}"/>
              </a:ext>
            </a:extLst>
          </p:cNvPr>
          <p:cNvPicPr>
            <a:picLocks noChangeAspect="1"/>
          </p:cNvPicPr>
          <p:nvPr/>
        </p:nvPicPr>
        <p:blipFill>
          <a:blip r:embed="rId2"/>
          <a:stretch>
            <a:fillRect/>
          </a:stretch>
        </p:blipFill>
        <p:spPr>
          <a:xfrm>
            <a:off x="7602487" y="1450839"/>
            <a:ext cx="1171739" cy="562053"/>
          </a:xfrm>
          <a:prstGeom prst="rect">
            <a:avLst/>
          </a:prstGeom>
        </p:spPr>
      </p:pic>
      <p:pic>
        <p:nvPicPr>
          <p:cNvPr id="11" name="Picture 10">
            <a:extLst>
              <a:ext uri="{FF2B5EF4-FFF2-40B4-BE49-F238E27FC236}">
                <a16:creationId xmlns:a16="http://schemas.microsoft.com/office/drawing/2014/main" id="{51245A51-F4D8-BBF3-3410-8F30722756A5}"/>
              </a:ext>
            </a:extLst>
          </p:cNvPr>
          <p:cNvPicPr>
            <a:picLocks noChangeAspect="1"/>
          </p:cNvPicPr>
          <p:nvPr/>
        </p:nvPicPr>
        <p:blipFill>
          <a:blip r:embed="rId3"/>
          <a:stretch>
            <a:fillRect/>
          </a:stretch>
        </p:blipFill>
        <p:spPr>
          <a:xfrm>
            <a:off x="7819657" y="3340856"/>
            <a:ext cx="1409822" cy="510584"/>
          </a:xfrm>
          <a:prstGeom prst="rect">
            <a:avLst/>
          </a:prstGeom>
        </p:spPr>
      </p:pic>
      <p:pic>
        <p:nvPicPr>
          <p:cNvPr id="8" name="Picture 7">
            <a:extLst>
              <a:ext uri="{FF2B5EF4-FFF2-40B4-BE49-F238E27FC236}">
                <a16:creationId xmlns:a16="http://schemas.microsoft.com/office/drawing/2014/main" id="{0044D42A-50F3-D6B3-33D2-772395638AB3}"/>
              </a:ext>
            </a:extLst>
          </p:cNvPr>
          <p:cNvPicPr>
            <a:picLocks noChangeAspect="1"/>
          </p:cNvPicPr>
          <p:nvPr/>
        </p:nvPicPr>
        <p:blipFill>
          <a:blip r:embed="rId4"/>
          <a:stretch>
            <a:fillRect/>
          </a:stretch>
        </p:blipFill>
        <p:spPr>
          <a:xfrm>
            <a:off x="976767" y="1284127"/>
            <a:ext cx="4496427" cy="895475"/>
          </a:xfrm>
          <a:prstGeom prst="rect">
            <a:avLst/>
          </a:prstGeom>
        </p:spPr>
      </p:pic>
      <p:pic>
        <p:nvPicPr>
          <p:cNvPr id="12" name="Picture 11">
            <a:extLst>
              <a:ext uri="{FF2B5EF4-FFF2-40B4-BE49-F238E27FC236}">
                <a16:creationId xmlns:a16="http://schemas.microsoft.com/office/drawing/2014/main" id="{1B44661A-0E94-62D8-7F7F-A8182A16BCEC}"/>
              </a:ext>
            </a:extLst>
          </p:cNvPr>
          <p:cNvPicPr>
            <a:picLocks noChangeAspect="1"/>
          </p:cNvPicPr>
          <p:nvPr/>
        </p:nvPicPr>
        <p:blipFill>
          <a:blip r:embed="rId5"/>
          <a:stretch>
            <a:fillRect/>
          </a:stretch>
        </p:blipFill>
        <p:spPr>
          <a:xfrm>
            <a:off x="1008940" y="2944606"/>
            <a:ext cx="5087060" cy="2629267"/>
          </a:xfrm>
          <a:prstGeom prst="rect">
            <a:avLst/>
          </a:prstGeom>
        </p:spPr>
      </p:pic>
    </p:spTree>
    <p:extLst>
      <p:ext uri="{BB962C8B-B14F-4D97-AF65-F5344CB8AC3E}">
        <p14:creationId xmlns:p14="http://schemas.microsoft.com/office/powerpoint/2010/main" val="15665631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38D604E-5817-5BE2-C90B-682E5BCB2D8B}"/>
              </a:ext>
            </a:extLst>
          </p:cNvPr>
          <p:cNvPicPr>
            <a:picLocks noChangeAspect="1"/>
          </p:cNvPicPr>
          <p:nvPr/>
        </p:nvPicPr>
        <p:blipFill>
          <a:blip r:embed="rId2"/>
          <a:stretch>
            <a:fillRect/>
          </a:stretch>
        </p:blipFill>
        <p:spPr>
          <a:xfrm>
            <a:off x="7601563" y="909715"/>
            <a:ext cx="2219635" cy="1409897"/>
          </a:xfrm>
          <a:prstGeom prst="rect">
            <a:avLst/>
          </a:prstGeom>
        </p:spPr>
      </p:pic>
      <p:pic>
        <p:nvPicPr>
          <p:cNvPr id="11" name="Picture 10">
            <a:extLst>
              <a:ext uri="{FF2B5EF4-FFF2-40B4-BE49-F238E27FC236}">
                <a16:creationId xmlns:a16="http://schemas.microsoft.com/office/drawing/2014/main" id="{119FE2BA-C72B-377E-4D23-EEBD0B6C210A}"/>
              </a:ext>
            </a:extLst>
          </p:cNvPr>
          <p:cNvPicPr>
            <a:picLocks noChangeAspect="1"/>
          </p:cNvPicPr>
          <p:nvPr/>
        </p:nvPicPr>
        <p:blipFill>
          <a:blip r:embed="rId3"/>
          <a:stretch>
            <a:fillRect/>
          </a:stretch>
        </p:blipFill>
        <p:spPr>
          <a:xfrm>
            <a:off x="7349073" y="3296901"/>
            <a:ext cx="3334215" cy="2534004"/>
          </a:xfrm>
          <a:prstGeom prst="rect">
            <a:avLst/>
          </a:prstGeom>
        </p:spPr>
      </p:pic>
      <p:pic>
        <p:nvPicPr>
          <p:cNvPr id="3" name="Picture 2">
            <a:extLst>
              <a:ext uri="{FF2B5EF4-FFF2-40B4-BE49-F238E27FC236}">
                <a16:creationId xmlns:a16="http://schemas.microsoft.com/office/drawing/2014/main" id="{797C927C-D475-7C64-4C90-10CAD569E224}"/>
              </a:ext>
            </a:extLst>
          </p:cNvPr>
          <p:cNvPicPr>
            <a:picLocks noChangeAspect="1"/>
          </p:cNvPicPr>
          <p:nvPr/>
        </p:nvPicPr>
        <p:blipFill>
          <a:blip r:embed="rId4"/>
          <a:stretch>
            <a:fillRect/>
          </a:stretch>
        </p:blipFill>
        <p:spPr>
          <a:xfrm>
            <a:off x="862277" y="1047804"/>
            <a:ext cx="5020376" cy="1419423"/>
          </a:xfrm>
          <a:prstGeom prst="rect">
            <a:avLst/>
          </a:prstGeom>
        </p:spPr>
      </p:pic>
      <p:pic>
        <p:nvPicPr>
          <p:cNvPr id="6" name="Picture 5">
            <a:extLst>
              <a:ext uri="{FF2B5EF4-FFF2-40B4-BE49-F238E27FC236}">
                <a16:creationId xmlns:a16="http://schemas.microsoft.com/office/drawing/2014/main" id="{1EE71369-5536-8DB2-DED4-0A0FAAD190F5}"/>
              </a:ext>
            </a:extLst>
          </p:cNvPr>
          <p:cNvPicPr>
            <a:picLocks noChangeAspect="1"/>
          </p:cNvPicPr>
          <p:nvPr/>
        </p:nvPicPr>
        <p:blipFill>
          <a:blip r:embed="rId5"/>
          <a:stretch>
            <a:fillRect/>
          </a:stretch>
        </p:blipFill>
        <p:spPr>
          <a:xfrm>
            <a:off x="862277" y="3429000"/>
            <a:ext cx="5934903" cy="2238687"/>
          </a:xfrm>
          <a:prstGeom prst="rect">
            <a:avLst/>
          </a:prstGeom>
        </p:spPr>
      </p:pic>
    </p:spTree>
    <p:extLst>
      <p:ext uri="{BB962C8B-B14F-4D97-AF65-F5344CB8AC3E}">
        <p14:creationId xmlns:p14="http://schemas.microsoft.com/office/powerpoint/2010/main" val="13659120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E1024E1-63F0-CFF3-4FEA-4571101B30BB}"/>
              </a:ext>
            </a:extLst>
          </p:cNvPr>
          <p:cNvSpPr>
            <a:spLocks noGrp="1"/>
          </p:cNvSpPr>
          <p:nvPr>
            <p:ph type="body" idx="1"/>
          </p:nvPr>
        </p:nvSpPr>
        <p:spPr>
          <a:xfrm>
            <a:off x="838200" y="3293807"/>
            <a:ext cx="10515600" cy="580103"/>
          </a:xfrm>
        </p:spPr>
        <p:txBody>
          <a:bodyPr>
            <a:normAutofit lnSpcReduction="10000"/>
          </a:bodyPr>
          <a:lstStyle/>
          <a:p>
            <a:pPr marL="114300" indent="0">
              <a:buNone/>
            </a:pPr>
            <a:r>
              <a:rPr lang="en-IN" b="1" dirty="0">
                <a:solidFill>
                  <a:srgbClr val="FF0000"/>
                </a:solidFill>
              </a:rPr>
              <a:t>Supplier Contribution </a:t>
            </a:r>
          </a:p>
        </p:txBody>
      </p:sp>
      <p:pic>
        <p:nvPicPr>
          <p:cNvPr id="7" name="Picture 6">
            <a:extLst>
              <a:ext uri="{FF2B5EF4-FFF2-40B4-BE49-F238E27FC236}">
                <a16:creationId xmlns:a16="http://schemas.microsoft.com/office/drawing/2014/main" id="{F464ED06-218A-F398-EBEB-520133B2D4C5}"/>
              </a:ext>
            </a:extLst>
          </p:cNvPr>
          <p:cNvPicPr>
            <a:picLocks noChangeAspect="1"/>
          </p:cNvPicPr>
          <p:nvPr/>
        </p:nvPicPr>
        <p:blipFill>
          <a:blip r:embed="rId2"/>
          <a:stretch>
            <a:fillRect/>
          </a:stretch>
        </p:blipFill>
        <p:spPr>
          <a:xfrm>
            <a:off x="7462297" y="973953"/>
            <a:ext cx="3343742" cy="800212"/>
          </a:xfrm>
          <a:prstGeom prst="rect">
            <a:avLst/>
          </a:prstGeom>
        </p:spPr>
      </p:pic>
      <p:pic>
        <p:nvPicPr>
          <p:cNvPr id="11" name="Picture 10">
            <a:extLst>
              <a:ext uri="{FF2B5EF4-FFF2-40B4-BE49-F238E27FC236}">
                <a16:creationId xmlns:a16="http://schemas.microsoft.com/office/drawing/2014/main" id="{CFCB2BD1-14F8-926F-3528-9E229ACCEDC2}"/>
              </a:ext>
            </a:extLst>
          </p:cNvPr>
          <p:cNvPicPr>
            <a:picLocks noChangeAspect="1"/>
          </p:cNvPicPr>
          <p:nvPr/>
        </p:nvPicPr>
        <p:blipFill>
          <a:blip r:embed="rId3"/>
          <a:stretch>
            <a:fillRect/>
          </a:stretch>
        </p:blipFill>
        <p:spPr>
          <a:xfrm>
            <a:off x="8952777" y="4292972"/>
            <a:ext cx="1562318" cy="638264"/>
          </a:xfrm>
          <a:prstGeom prst="rect">
            <a:avLst/>
          </a:prstGeom>
        </p:spPr>
      </p:pic>
      <p:pic>
        <p:nvPicPr>
          <p:cNvPr id="4" name="Picture 3">
            <a:extLst>
              <a:ext uri="{FF2B5EF4-FFF2-40B4-BE49-F238E27FC236}">
                <a16:creationId xmlns:a16="http://schemas.microsoft.com/office/drawing/2014/main" id="{605A9021-0471-5320-24E3-893354249164}"/>
              </a:ext>
            </a:extLst>
          </p:cNvPr>
          <p:cNvPicPr>
            <a:picLocks noChangeAspect="1"/>
          </p:cNvPicPr>
          <p:nvPr/>
        </p:nvPicPr>
        <p:blipFill>
          <a:blip r:embed="rId4"/>
          <a:stretch>
            <a:fillRect/>
          </a:stretch>
        </p:blipFill>
        <p:spPr>
          <a:xfrm>
            <a:off x="739878" y="793360"/>
            <a:ext cx="6430272" cy="2290916"/>
          </a:xfrm>
          <a:prstGeom prst="rect">
            <a:avLst/>
          </a:prstGeom>
        </p:spPr>
      </p:pic>
      <p:pic>
        <p:nvPicPr>
          <p:cNvPr id="8" name="Picture 7">
            <a:extLst>
              <a:ext uri="{FF2B5EF4-FFF2-40B4-BE49-F238E27FC236}">
                <a16:creationId xmlns:a16="http://schemas.microsoft.com/office/drawing/2014/main" id="{39A609E3-E5B9-4AEA-389B-9DF8B7534898}"/>
              </a:ext>
            </a:extLst>
          </p:cNvPr>
          <p:cNvPicPr>
            <a:picLocks noChangeAspect="1"/>
          </p:cNvPicPr>
          <p:nvPr/>
        </p:nvPicPr>
        <p:blipFill>
          <a:blip r:embed="rId5"/>
          <a:stretch>
            <a:fillRect/>
          </a:stretch>
        </p:blipFill>
        <p:spPr>
          <a:xfrm>
            <a:off x="838200" y="4397761"/>
            <a:ext cx="4925112" cy="1066949"/>
          </a:xfrm>
          <a:prstGeom prst="rect">
            <a:avLst/>
          </a:prstGeom>
        </p:spPr>
      </p:pic>
    </p:spTree>
    <p:extLst>
      <p:ext uri="{BB962C8B-B14F-4D97-AF65-F5344CB8AC3E}">
        <p14:creationId xmlns:p14="http://schemas.microsoft.com/office/powerpoint/2010/main" val="28691642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9D4C168-51E1-B23F-586B-3ABFCB5728A0}"/>
              </a:ext>
            </a:extLst>
          </p:cNvPr>
          <p:cNvPicPr>
            <a:picLocks noChangeAspect="1"/>
          </p:cNvPicPr>
          <p:nvPr/>
        </p:nvPicPr>
        <p:blipFill>
          <a:blip r:embed="rId2"/>
          <a:stretch>
            <a:fillRect/>
          </a:stretch>
        </p:blipFill>
        <p:spPr>
          <a:xfrm>
            <a:off x="7872673" y="1047673"/>
            <a:ext cx="2876951" cy="552527"/>
          </a:xfrm>
          <a:prstGeom prst="rect">
            <a:avLst/>
          </a:prstGeom>
        </p:spPr>
      </p:pic>
      <p:pic>
        <p:nvPicPr>
          <p:cNvPr id="14" name="Picture 13">
            <a:extLst>
              <a:ext uri="{FF2B5EF4-FFF2-40B4-BE49-F238E27FC236}">
                <a16:creationId xmlns:a16="http://schemas.microsoft.com/office/drawing/2014/main" id="{0BA47AB6-14B1-D625-0F8C-4A7F89A3640E}"/>
              </a:ext>
            </a:extLst>
          </p:cNvPr>
          <p:cNvPicPr>
            <a:picLocks noChangeAspect="1"/>
          </p:cNvPicPr>
          <p:nvPr/>
        </p:nvPicPr>
        <p:blipFill>
          <a:blip r:embed="rId3"/>
          <a:stretch>
            <a:fillRect/>
          </a:stretch>
        </p:blipFill>
        <p:spPr>
          <a:xfrm>
            <a:off x="7872673" y="2465792"/>
            <a:ext cx="3210373" cy="1381318"/>
          </a:xfrm>
          <a:prstGeom prst="rect">
            <a:avLst/>
          </a:prstGeom>
        </p:spPr>
      </p:pic>
      <p:pic>
        <p:nvPicPr>
          <p:cNvPr id="18" name="Picture 17">
            <a:extLst>
              <a:ext uri="{FF2B5EF4-FFF2-40B4-BE49-F238E27FC236}">
                <a16:creationId xmlns:a16="http://schemas.microsoft.com/office/drawing/2014/main" id="{39260FD8-CBA0-AD94-5C04-B13028640688}"/>
              </a:ext>
            </a:extLst>
          </p:cNvPr>
          <p:cNvPicPr>
            <a:picLocks noChangeAspect="1"/>
          </p:cNvPicPr>
          <p:nvPr/>
        </p:nvPicPr>
        <p:blipFill>
          <a:blip r:embed="rId4"/>
          <a:stretch>
            <a:fillRect/>
          </a:stretch>
        </p:blipFill>
        <p:spPr>
          <a:xfrm>
            <a:off x="7929831" y="4224841"/>
            <a:ext cx="3153215" cy="1362265"/>
          </a:xfrm>
          <a:prstGeom prst="rect">
            <a:avLst/>
          </a:prstGeom>
        </p:spPr>
      </p:pic>
      <p:pic>
        <p:nvPicPr>
          <p:cNvPr id="3" name="Picture 2">
            <a:extLst>
              <a:ext uri="{FF2B5EF4-FFF2-40B4-BE49-F238E27FC236}">
                <a16:creationId xmlns:a16="http://schemas.microsoft.com/office/drawing/2014/main" id="{984C6A8C-53BE-FDBB-CFD8-4D3200B70807}"/>
              </a:ext>
            </a:extLst>
          </p:cNvPr>
          <p:cNvPicPr>
            <a:picLocks noChangeAspect="1"/>
          </p:cNvPicPr>
          <p:nvPr/>
        </p:nvPicPr>
        <p:blipFill>
          <a:blip r:embed="rId5"/>
          <a:stretch>
            <a:fillRect/>
          </a:stretch>
        </p:blipFill>
        <p:spPr>
          <a:xfrm>
            <a:off x="775711" y="737419"/>
            <a:ext cx="6058746" cy="1734440"/>
          </a:xfrm>
          <a:prstGeom prst="rect">
            <a:avLst/>
          </a:prstGeom>
        </p:spPr>
      </p:pic>
      <p:pic>
        <p:nvPicPr>
          <p:cNvPr id="5" name="Picture 4">
            <a:extLst>
              <a:ext uri="{FF2B5EF4-FFF2-40B4-BE49-F238E27FC236}">
                <a16:creationId xmlns:a16="http://schemas.microsoft.com/office/drawing/2014/main" id="{7D01153F-B40C-C94E-045E-62855A044D99}"/>
              </a:ext>
            </a:extLst>
          </p:cNvPr>
          <p:cNvPicPr>
            <a:picLocks noChangeAspect="1"/>
          </p:cNvPicPr>
          <p:nvPr/>
        </p:nvPicPr>
        <p:blipFill>
          <a:blip r:embed="rId6"/>
          <a:stretch>
            <a:fillRect/>
          </a:stretch>
        </p:blipFill>
        <p:spPr>
          <a:xfrm>
            <a:off x="775711" y="2465792"/>
            <a:ext cx="6373114" cy="1638529"/>
          </a:xfrm>
          <a:prstGeom prst="rect">
            <a:avLst/>
          </a:prstGeom>
        </p:spPr>
      </p:pic>
      <p:pic>
        <p:nvPicPr>
          <p:cNvPr id="9" name="Picture 8">
            <a:extLst>
              <a:ext uri="{FF2B5EF4-FFF2-40B4-BE49-F238E27FC236}">
                <a16:creationId xmlns:a16="http://schemas.microsoft.com/office/drawing/2014/main" id="{C99DED85-92AF-26F1-BEC2-AC4C1E98A02B}"/>
              </a:ext>
            </a:extLst>
          </p:cNvPr>
          <p:cNvPicPr>
            <a:picLocks noChangeAspect="1"/>
          </p:cNvPicPr>
          <p:nvPr/>
        </p:nvPicPr>
        <p:blipFill>
          <a:blip r:embed="rId7"/>
          <a:stretch>
            <a:fillRect/>
          </a:stretch>
        </p:blipFill>
        <p:spPr>
          <a:xfrm>
            <a:off x="775712" y="4224841"/>
            <a:ext cx="6519824" cy="1895740"/>
          </a:xfrm>
          <a:prstGeom prst="rect">
            <a:avLst/>
          </a:prstGeom>
        </p:spPr>
      </p:pic>
    </p:spTree>
    <p:extLst>
      <p:ext uri="{BB962C8B-B14F-4D97-AF65-F5344CB8AC3E}">
        <p14:creationId xmlns:p14="http://schemas.microsoft.com/office/powerpoint/2010/main" val="19626043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68C23-3CA5-05DC-1DBA-55C7E583ACA5}"/>
              </a:ext>
            </a:extLst>
          </p:cNvPr>
          <p:cNvSpPr>
            <a:spLocks noGrp="1"/>
          </p:cNvSpPr>
          <p:nvPr>
            <p:ph type="title"/>
          </p:nvPr>
        </p:nvSpPr>
        <p:spPr>
          <a:xfrm>
            <a:off x="530942" y="365125"/>
            <a:ext cx="10822858" cy="706591"/>
          </a:xfrm>
        </p:spPr>
        <p:txBody>
          <a:bodyPr>
            <a:normAutofit/>
          </a:bodyPr>
          <a:lstStyle/>
          <a:p>
            <a:r>
              <a:rPr lang="en-IN" sz="2800" b="1" dirty="0">
                <a:solidFill>
                  <a:srgbClr val="FF0000"/>
                </a:solidFill>
              </a:rPr>
              <a:t>Employee Performance </a:t>
            </a:r>
          </a:p>
        </p:txBody>
      </p:sp>
      <p:pic>
        <p:nvPicPr>
          <p:cNvPr id="7" name="Picture 6">
            <a:extLst>
              <a:ext uri="{FF2B5EF4-FFF2-40B4-BE49-F238E27FC236}">
                <a16:creationId xmlns:a16="http://schemas.microsoft.com/office/drawing/2014/main" id="{8CAFA6FB-B61C-49C0-E470-50F4641ED552}"/>
              </a:ext>
            </a:extLst>
          </p:cNvPr>
          <p:cNvPicPr>
            <a:picLocks noChangeAspect="1"/>
          </p:cNvPicPr>
          <p:nvPr/>
        </p:nvPicPr>
        <p:blipFill>
          <a:blip r:embed="rId2"/>
          <a:stretch>
            <a:fillRect/>
          </a:stretch>
        </p:blipFill>
        <p:spPr>
          <a:xfrm>
            <a:off x="7942153" y="1556371"/>
            <a:ext cx="2305372" cy="581106"/>
          </a:xfrm>
          <a:prstGeom prst="rect">
            <a:avLst/>
          </a:prstGeom>
        </p:spPr>
      </p:pic>
      <p:pic>
        <p:nvPicPr>
          <p:cNvPr id="11" name="Picture 10">
            <a:extLst>
              <a:ext uri="{FF2B5EF4-FFF2-40B4-BE49-F238E27FC236}">
                <a16:creationId xmlns:a16="http://schemas.microsoft.com/office/drawing/2014/main" id="{8031C97E-1962-DC71-83A8-5CA6106BB59A}"/>
              </a:ext>
            </a:extLst>
          </p:cNvPr>
          <p:cNvPicPr>
            <a:picLocks noChangeAspect="1"/>
          </p:cNvPicPr>
          <p:nvPr/>
        </p:nvPicPr>
        <p:blipFill>
          <a:blip r:embed="rId3"/>
          <a:stretch>
            <a:fillRect/>
          </a:stretch>
        </p:blipFill>
        <p:spPr>
          <a:xfrm>
            <a:off x="7657016" y="3429000"/>
            <a:ext cx="3172268" cy="1343212"/>
          </a:xfrm>
          <a:prstGeom prst="rect">
            <a:avLst/>
          </a:prstGeom>
        </p:spPr>
      </p:pic>
      <p:pic>
        <p:nvPicPr>
          <p:cNvPr id="4" name="Picture 3">
            <a:extLst>
              <a:ext uri="{FF2B5EF4-FFF2-40B4-BE49-F238E27FC236}">
                <a16:creationId xmlns:a16="http://schemas.microsoft.com/office/drawing/2014/main" id="{99D92F2B-007C-9111-F1A5-514048AF2923}"/>
              </a:ext>
            </a:extLst>
          </p:cNvPr>
          <p:cNvPicPr>
            <a:picLocks noChangeAspect="1"/>
          </p:cNvPicPr>
          <p:nvPr/>
        </p:nvPicPr>
        <p:blipFill>
          <a:blip r:embed="rId4"/>
          <a:stretch>
            <a:fillRect/>
          </a:stretch>
        </p:blipFill>
        <p:spPr>
          <a:xfrm>
            <a:off x="668385" y="1556371"/>
            <a:ext cx="5191850" cy="1066949"/>
          </a:xfrm>
          <a:prstGeom prst="rect">
            <a:avLst/>
          </a:prstGeom>
        </p:spPr>
      </p:pic>
      <p:pic>
        <p:nvPicPr>
          <p:cNvPr id="8" name="Picture 7">
            <a:extLst>
              <a:ext uri="{FF2B5EF4-FFF2-40B4-BE49-F238E27FC236}">
                <a16:creationId xmlns:a16="http://schemas.microsoft.com/office/drawing/2014/main" id="{210D89D3-D153-BBE3-1B55-462F46822467}"/>
              </a:ext>
            </a:extLst>
          </p:cNvPr>
          <p:cNvPicPr>
            <a:picLocks noChangeAspect="1"/>
          </p:cNvPicPr>
          <p:nvPr/>
        </p:nvPicPr>
        <p:blipFill>
          <a:blip r:embed="rId5"/>
          <a:stretch>
            <a:fillRect/>
          </a:stretch>
        </p:blipFill>
        <p:spPr>
          <a:xfrm>
            <a:off x="668385" y="3420180"/>
            <a:ext cx="6344535" cy="1629002"/>
          </a:xfrm>
          <a:prstGeom prst="rect">
            <a:avLst/>
          </a:prstGeom>
        </p:spPr>
      </p:pic>
    </p:spTree>
    <p:extLst>
      <p:ext uri="{BB962C8B-B14F-4D97-AF65-F5344CB8AC3E}">
        <p14:creationId xmlns:p14="http://schemas.microsoft.com/office/powerpoint/2010/main" val="37513831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3AE6E86-9DC9-C3B2-92AF-2624953D6235}"/>
              </a:ext>
            </a:extLst>
          </p:cNvPr>
          <p:cNvPicPr>
            <a:picLocks noChangeAspect="1"/>
          </p:cNvPicPr>
          <p:nvPr/>
        </p:nvPicPr>
        <p:blipFill>
          <a:blip r:embed="rId2"/>
          <a:stretch>
            <a:fillRect/>
          </a:stretch>
        </p:blipFill>
        <p:spPr>
          <a:xfrm>
            <a:off x="7525438" y="704989"/>
            <a:ext cx="4067743" cy="2419688"/>
          </a:xfrm>
          <a:prstGeom prst="rect">
            <a:avLst/>
          </a:prstGeom>
        </p:spPr>
      </p:pic>
      <p:pic>
        <p:nvPicPr>
          <p:cNvPr id="11" name="Picture 10">
            <a:extLst>
              <a:ext uri="{FF2B5EF4-FFF2-40B4-BE49-F238E27FC236}">
                <a16:creationId xmlns:a16="http://schemas.microsoft.com/office/drawing/2014/main" id="{4DB329DC-50BD-6443-6A4B-99CD88846CA9}"/>
              </a:ext>
            </a:extLst>
          </p:cNvPr>
          <p:cNvPicPr>
            <a:picLocks noChangeAspect="1"/>
          </p:cNvPicPr>
          <p:nvPr/>
        </p:nvPicPr>
        <p:blipFill>
          <a:blip r:embed="rId3"/>
          <a:stretch>
            <a:fillRect/>
          </a:stretch>
        </p:blipFill>
        <p:spPr>
          <a:xfrm>
            <a:off x="7525438" y="3280531"/>
            <a:ext cx="3753374" cy="2372056"/>
          </a:xfrm>
          <a:prstGeom prst="rect">
            <a:avLst/>
          </a:prstGeom>
        </p:spPr>
      </p:pic>
      <p:pic>
        <p:nvPicPr>
          <p:cNvPr id="3" name="Picture 2">
            <a:extLst>
              <a:ext uri="{FF2B5EF4-FFF2-40B4-BE49-F238E27FC236}">
                <a16:creationId xmlns:a16="http://schemas.microsoft.com/office/drawing/2014/main" id="{E5FEFD88-F84F-053A-FB8E-DEA1266948D6}"/>
              </a:ext>
            </a:extLst>
          </p:cNvPr>
          <p:cNvPicPr>
            <a:picLocks noChangeAspect="1"/>
          </p:cNvPicPr>
          <p:nvPr/>
        </p:nvPicPr>
        <p:blipFill>
          <a:blip r:embed="rId4"/>
          <a:stretch>
            <a:fillRect/>
          </a:stretch>
        </p:blipFill>
        <p:spPr>
          <a:xfrm>
            <a:off x="712524" y="751692"/>
            <a:ext cx="6179889" cy="2105319"/>
          </a:xfrm>
          <a:prstGeom prst="rect">
            <a:avLst/>
          </a:prstGeom>
        </p:spPr>
      </p:pic>
      <p:pic>
        <p:nvPicPr>
          <p:cNvPr id="6" name="Picture 5">
            <a:extLst>
              <a:ext uri="{FF2B5EF4-FFF2-40B4-BE49-F238E27FC236}">
                <a16:creationId xmlns:a16="http://schemas.microsoft.com/office/drawing/2014/main" id="{93C7EEEB-1B96-8859-766F-173365F664F7}"/>
              </a:ext>
            </a:extLst>
          </p:cNvPr>
          <p:cNvPicPr>
            <a:picLocks noChangeAspect="1"/>
          </p:cNvPicPr>
          <p:nvPr/>
        </p:nvPicPr>
        <p:blipFill>
          <a:blip r:embed="rId5"/>
          <a:stretch>
            <a:fillRect/>
          </a:stretch>
        </p:blipFill>
        <p:spPr>
          <a:xfrm>
            <a:off x="712525" y="2857011"/>
            <a:ext cx="5688276" cy="2972215"/>
          </a:xfrm>
          <a:prstGeom prst="rect">
            <a:avLst/>
          </a:prstGeom>
        </p:spPr>
      </p:pic>
    </p:spTree>
    <p:extLst>
      <p:ext uri="{BB962C8B-B14F-4D97-AF65-F5344CB8AC3E}">
        <p14:creationId xmlns:p14="http://schemas.microsoft.com/office/powerpoint/2010/main" val="419011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4CA0A-52CC-ED1B-E92C-5FF67E9F9D97}"/>
              </a:ext>
            </a:extLst>
          </p:cNvPr>
          <p:cNvSpPr>
            <a:spLocks noGrp="1"/>
          </p:cNvSpPr>
          <p:nvPr>
            <p:ph type="title"/>
          </p:nvPr>
        </p:nvSpPr>
        <p:spPr>
          <a:xfrm>
            <a:off x="838200" y="365125"/>
            <a:ext cx="10515600" cy="627933"/>
          </a:xfrm>
        </p:spPr>
        <p:txBody>
          <a:bodyPr>
            <a:normAutofit/>
          </a:bodyPr>
          <a:lstStyle/>
          <a:p>
            <a:r>
              <a:rPr lang="en-IN" sz="2800" b="1" dirty="0">
                <a:solidFill>
                  <a:srgbClr val="FF0000"/>
                </a:solidFill>
              </a:rPr>
              <a:t>Order Details Deep Dive </a:t>
            </a:r>
          </a:p>
        </p:txBody>
      </p:sp>
      <p:pic>
        <p:nvPicPr>
          <p:cNvPr id="11" name="Picture 10">
            <a:extLst>
              <a:ext uri="{FF2B5EF4-FFF2-40B4-BE49-F238E27FC236}">
                <a16:creationId xmlns:a16="http://schemas.microsoft.com/office/drawing/2014/main" id="{02311209-5297-C969-BE02-63C020D57F4A}"/>
              </a:ext>
            </a:extLst>
          </p:cNvPr>
          <p:cNvPicPr>
            <a:picLocks noChangeAspect="1"/>
          </p:cNvPicPr>
          <p:nvPr/>
        </p:nvPicPr>
        <p:blipFill>
          <a:blip r:embed="rId2"/>
          <a:stretch>
            <a:fillRect/>
          </a:stretch>
        </p:blipFill>
        <p:spPr>
          <a:xfrm>
            <a:off x="7700413" y="3429000"/>
            <a:ext cx="3477110" cy="2543530"/>
          </a:xfrm>
          <a:prstGeom prst="rect">
            <a:avLst/>
          </a:prstGeom>
        </p:spPr>
      </p:pic>
      <p:pic>
        <p:nvPicPr>
          <p:cNvPr id="8" name="Picture 7">
            <a:extLst>
              <a:ext uri="{FF2B5EF4-FFF2-40B4-BE49-F238E27FC236}">
                <a16:creationId xmlns:a16="http://schemas.microsoft.com/office/drawing/2014/main" id="{9E431F4F-0FE8-4F62-B523-6BF71824E700}"/>
              </a:ext>
            </a:extLst>
          </p:cNvPr>
          <p:cNvPicPr>
            <a:picLocks noChangeAspect="1"/>
          </p:cNvPicPr>
          <p:nvPr/>
        </p:nvPicPr>
        <p:blipFill>
          <a:blip r:embed="rId3"/>
          <a:stretch>
            <a:fillRect/>
          </a:stretch>
        </p:blipFill>
        <p:spPr>
          <a:xfrm>
            <a:off x="749031" y="3752246"/>
            <a:ext cx="6430272" cy="1619476"/>
          </a:xfrm>
          <a:prstGeom prst="rect">
            <a:avLst/>
          </a:prstGeom>
        </p:spPr>
      </p:pic>
      <p:pic>
        <p:nvPicPr>
          <p:cNvPr id="15" name="Picture 14">
            <a:extLst>
              <a:ext uri="{FF2B5EF4-FFF2-40B4-BE49-F238E27FC236}">
                <a16:creationId xmlns:a16="http://schemas.microsoft.com/office/drawing/2014/main" id="{90DCACBA-D7B0-D3E1-D5FF-BEBD1746D4DD}"/>
              </a:ext>
            </a:extLst>
          </p:cNvPr>
          <p:cNvPicPr>
            <a:picLocks noChangeAspect="1"/>
          </p:cNvPicPr>
          <p:nvPr/>
        </p:nvPicPr>
        <p:blipFill>
          <a:blip r:embed="rId4"/>
          <a:stretch>
            <a:fillRect/>
          </a:stretch>
        </p:blipFill>
        <p:spPr>
          <a:xfrm>
            <a:off x="8080590" y="1278709"/>
            <a:ext cx="2048161" cy="1409897"/>
          </a:xfrm>
          <a:prstGeom prst="rect">
            <a:avLst/>
          </a:prstGeom>
        </p:spPr>
      </p:pic>
      <p:pic>
        <p:nvPicPr>
          <p:cNvPr id="17" name="Picture 16">
            <a:extLst>
              <a:ext uri="{FF2B5EF4-FFF2-40B4-BE49-F238E27FC236}">
                <a16:creationId xmlns:a16="http://schemas.microsoft.com/office/drawing/2014/main" id="{65ADFD82-5D76-052B-5B53-68825182FFBC}"/>
              </a:ext>
            </a:extLst>
          </p:cNvPr>
          <p:cNvPicPr>
            <a:picLocks noChangeAspect="1"/>
          </p:cNvPicPr>
          <p:nvPr/>
        </p:nvPicPr>
        <p:blipFill>
          <a:blip r:embed="rId5"/>
          <a:stretch>
            <a:fillRect/>
          </a:stretch>
        </p:blipFill>
        <p:spPr>
          <a:xfrm>
            <a:off x="708087" y="1272685"/>
            <a:ext cx="6992326" cy="1876687"/>
          </a:xfrm>
          <a:prstGeom prst="rect">
            <a:avLst/>
          </a:prstGeom>
        </p:spPr>
      </p:pic>
    </p:spTree>
    <p:extLst>
      <p:ext uri="{BB962C8B-B14F-4D97-AF65-F5344CB8AC3E}">
        <p14:creationId xmlns:p14="http://schemas.microsoft.com/office/powerpoint/2010/main" val="9006698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77C8122-14CE-7222-73F8-0C3F08824E01}"/>
              </a:ext>
            </a:extLst>
          </p:cNvPr>
          <p:cNvPicPr>
            <a:picLocks noChangeAspect="1"/>
          </p:cNvPicPr>
          <p:nvPr/>
        </p:nvPicPr>
        <p:blipFill>
          <a:blip r:embed="rId2"/>
          <a:stretch>
            <a:fillRect/>
          </a:stretch>
        </p:blipFill>
        <p:spPr>
          <a:xfrm>
            <a:off x="441414" y="600156"/>
            <a:ext cx="6058746" cy="3238952"/>
          </a:xfrm>
          <a:prstGeom prst="rect">
            <a:avLst/>
          </a:prstGeom>
        </p:spPr>
      </p:pic>
      <p:pic>
        <p:nvPicPr>
          <p:cNvPr id="12" name="Picture 11">
            <a:extLst>
              <a:ext uri="{FF2B5EF4-FFF2-40B4-BE49-F238E27FC236}">
                <a16:creationId xmlns:a16="http://schemas.microsoft.com/office/drawing/2014/main" id="{6F3DC2F9-BCC3-4A24-8829-BE2260050FDB}"/>
              </a:ext>
            </a:extLst>
          </p:cNvPr>
          <p:cNvPicPr>
            <a:picLocks noChangeAspect="1"/>
          </p:cNvPicPr>
          <p:nvPr/>
        </p:nvPicPr>
        <p:blipFill>
          <a:blip r:embed="rId3"/>
          <a:stretch>
            <a:fillRect/>
          </a:stretch>
        </p:blipFill>
        <p:spPr>
          <a:xfrm>
            <a:off x="5723216" y="1124235"/>
            <a:ext cx="5563376" cy="2505425"/>
          </a:xfrm>
          <a:prstGeom prst="rect">
            <a:avLst/>
          </a:prstGeom>
        </p:spPr>
      </p:pic>
    </p:spTree>
    <p:extLst>
      <p:ext uri="{BB962C8B-B14F-4D97-AF65-F5344CB8AC3E}">
        <p14:creationId xmlns:p14="http://schemas.microsoft.com/office/powerpoint/2010/main" val="19608709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C9903-3A32-611E-F8AB-CAFA32AF1BC2}"/>
              </a:ext>
            </a:extLst>
          </p:cNvPr>
          <p:cNvSpPr>
            <a:spLocks noGrp="1"/>
          </p:cNvSpPr>
          <p:nvPr>
            <p:ph type="title"/>
          </p:nvPr>
        </p:nvSpPr>
        <p:spPr/>
        <p:txBody>
          <a:bodyPr>
            <a:normAutofit/>
          </a:bodyPr>
          <a:lstStyle/>
          <a:p>
            <a:r>
              <a:rPr lang="en-IN" sz="4000" b="1" dirty="0">
                <a:solidFill>
                  <a:srgbClr val="FF0000"/>
                </a:solidFill>
              </a:rPr>
              <a:t>Challenges</a:t>
            </a:r>
            <a:r>
              <a:rPr lang="en-IN" sz="4000" dirty="0"/>
              <a:t> </a:t>
            </a:r>
            <a:endParaRPr lang="en-IN" sz="4000" b="1" dirty="0">
              <a:solidFill>
                <a:srgbClr val="FF0000"/>
              </a:solidFill>
            </a:endParaRPr>
          </a:p>
        </p:txBody>
      </p:sp>
      <p:sp>
        <p:nvSpPr>
          <p:cNvPr id="3" name="Text Placeholder 2">
            <a:extLst>
              <a:ext uri="{FF2B5EF4-FFF2-40B4-BE49-F238E27FC236}">
                <a16:creationId xmlns:a16="http://schemas.microsoft.com/office/drawing/2014/main" id="{53F21E8C-3DF2-9285-21A1-BC1569F351A1}"/>
              </a:ext>
            </a:extLst>
          </p:cNvPr>
          <p:cNvSpPr>
            <a:spLocks noGrp="1"/>
          </p:cNvSpPr>
          <p:nvPr>
            <p:ph type="body" idx="1"/>
          </p:nvPr>
        </p:nvSpPr>
        <p:spPr>
          <a:xfrm>
            <a:off x="838200" y="1386348"/>
            <a:ext cx="10515600" cy="4790615"/>
          </a:xfrm>
        </p:spPr>
        <p:txBody>
          <a:bodyPr>
            <a:normAutofit/>
          </a:bodyPr>
          <a:lstStyle/>
          <a:p>
            <a:pPr algn="just">
              <a:lnSpc>
                <a:spcPct val="150000"/>
              </a:lnSpc>
            </a:pPr>
            <a:r>
              <a:rPr lang="en-US" sz="2400" dirty="0"/>
              <a:t>Understanding table relationships and applying correct joins.</a:t>
            </a:r>
          </a:p>
          <a:p>
            <a:pPr algn="just">
              <a:lnSpc>
                <a:spcPct val="150000"/>
              </a:lnSpc>
            </a:pPr>
            <a:r>
              <a:rPr lang="en-US" sz="2400" dirty="0"/>
              <a:t>Ensuring data consistency with foreign key constraints.</a:t>
            </a:r>
          </a:p>
          <a:p>
            <a:pPr algn="just">
              <a:lnSpc>
                <a:spcPct val="150000"/>
              </a:lnSpc>
            </a:pPr>
            <a:r>
              <a:rPr lang="en-US" sz="2400" dirty="0"/>
              <a:t>Handling complex aggregations across multiple joined tables.</a:t>
            </a:r>
          </a:p>
          <a:p>
            <a:pPr algn="just">
              <a:lnSpc>
                <a:spcPct val="150000"/>
              </a:lnSpc>
            </a:pPr>
            <a:r>
              <a:rPr lang="en-US" sz="2400" dirty="0"/>
              <a:t>Extracting time-based trends when date data is stored as VARCHAR.</a:t>
            </a:r>
          </a:p>
        </p:txBody>
      </p:sp>
    </p:spTree>
    <p:extLst>
      <p:ext uri="{BB962C8B-B14F-4D97-AF65-F5344CB8AC3E}">
        <p14:creationId xmlns:p14="http://schemas.microsoft.com/office/powerpoint/2010/main" val="33572941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2D502-0E8D-659B-FC7A-68A657E1CE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608012-8F97-AAD5-29C3-6264317037C5}"/>
              </a:ext>
            </a:extLst>
          </p:cNvPr>
          <p:cNvSpPr>
            <a:spLocks noGrp="1"/>
          </p:cNvSpPr>
          <p:nvPr>
            <p:ph type="title"/>
          </p:nvPr>
        </p:nvSpPr>
        <p:spPr/>
        <p:txBody>
          <a:bodyPr>
            <a:normAutofit/>
          </a:bodyPr>
          <a:lstStyle/>
          <a:p>
            <a:r>
              <a:rPr lang="en-US" sz="4000" b="1" dirty="0">
                <a:solidFill>
                  <a:srgbClr val="FF0000"/>
                </a:solidFill>
              </a:rPr>
              <a:t>CONCLUSIONS</a:t>
            </a:r>
            <a:endParaRPr lang="en-IN" sz="4000" b="1" dirty="0">
              <a:solidFill>
                <a:srgbClr val="FF0000"/>
              </a:solidFill>
            </a:endParaRPr>
          </a:p>
        </p:txBody>
      </p:sp>
      <p:sp>
        <p:nvSpPr>
          <p:cNvPr id="3" name="Text Placeholder 2">
            <a:extLst>
              <a:ext uri="{FF2B5EF4-FFF2-40B4-BE49-F238E27FC236}">
                <a16:creationId xmlns:a16="http://schemas.microsoft.com/office/drawing/2014/main" id="{E63A5CB9-ECE6-F94D-7854-73E0C7BD5676}"/>
              </a:ext>
            </a:extLst>
          </p:cNvPr>
          <p:cNvSpPr>
            <a:spLocks noGrp="1"/>
          </p:cNvSpPr>
          <p:nvPr>
            <p:ph type="body" idx="1"/>
          </p:nvPr>
        </p:nvSpPr>
        <p:spPr>
          <a:xfrm>
            <a:off x="838200" y="1386348"/>
            <a:ext cx="10515600" cy="4790615"/>
          </a:xfrm>
        </p:spPr>
        <p:txBody>
          <a:bodyPr>
            <a:normAutofit/>
          </a:bodyPr>
          <a:lstStyle/>
          <a:p>
            <a:pPr algn="just">
              <a:lnSpc>
                <a:spcPct val="150000"/>
              </a:lnSpc>
            </a:pPr>
            <a:r>
              <a:rPr lang="en-US" sz="2400" dirty="0"/>
              <a:t>The Grocery Store Management database successfully integrates suppliers, products, customers, employees, and orders into a relational structure.</a:t>
            </a:r>
          </a:p>
          <a:p>
            <a:pPr algn="just">
              <a:lnSpc>
                <a:spcPct val="150000"/>
              </a:lnSpc>
            </a:pPr>
            <a:r>
              <a:rPr lang="en-US" sz="2400" dirty="0"/>
              <a:t>Through SQL queries and analysis, it provides clear insights into customer behavior, product performance, supplier contributions, employee efficiency, and overall sales trends.</a:t>
            </a:r>
          </a:p>
          <a:p>
            <a:pPr algn="just">
              <a:lnSpc>
                <a:spcPct val="150000"/>
              </a:lnSpc>
            </a:pPr>
            <a:r>
              <a:rPr lang="en-US" sz="2400" dirty="0"/>
              <a:t>Despite challenges like complex joins and time-based analysis, the system enables reliable decision-making and operational efficiency.</a:t>
            </a:r>
            <a:endParaRPr lang="en-IN" sz="2400" dirty="0"/>
          </a:p>
        </p:txBody>
      </p:sp>
    </p:spTree>
    <p:extLst>
      <p:ext uri="{BB962C8B-B14F-4D97-AF65-F5344CB8AC3E}">
        <p14:creationId xmlns:p14="http://schemas.microsoft.com/office/powerpoint/2010/main" val="3707968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09A89-11BE-7D77-57E7-095C2E673921}"/>
              </a:ext>
            </a:extLst>
          </p:cNvPr>
          <p:cNvSpPr>
            <a:spLocks noGrp="1"/>
          </p:cNvSpPr>
          <p:nvPr>
            <p:ph type="title"/>
          </p:nvPr>
        </p:nvSpPr>
        <p:spPr/>
        <p:txBody>
          <a:bodyPr>
            <a:normAutofit/>
          </a:bodyPr>
          <a:lstStyle/>
          <a:p>
            <a:r>
              <a:rPr lang="en-US" sz="4000" b="1" dirty="0">
                <a:solidFill>
                  <a:srgbClr val="FF0000"/>
                </a:solidFill>
              </a:rPr>
              <a:t>RECOMMENDATIONS</a:t>
            </a:r>
            <a:endParaRPr lang="en-IN" sz="4000" b="1" dirty="0">
              <a:solidFill>
                <a:srgbClr val="FF0000"/>
              </a:solidFill>
            </a:endParaRPr>
          </a:p>
        </p:txBody>
      </p:sp>
      <p:sp>
        <p:nvSpPr>
          <p:cNvPr id="3" name="Text Placeholder 2">
            <a:extLst>
              <a:ext uri="{FF2B5EF4-FFF2-40B4-BE49-F238E27FC236}">
                <a16:creationId xmlns:a16="http://schemas.microsoft.com/office/drawing/2014/main" id="{9DD36693-0DDD-EE66-4F2A-D91F9D0270AA}"/>
              </a:ext>
            </a:extLst>
          </p:cNvPr>
          <p:cNvSpPr>
            <a:spLocks noGrp="1"/>
          </p:cNvSpPr>
          <p:nvPr>
            <p:ph type="body" idx="1"/>
          </p:nvPr>
        </p:nvSpPr>
        <p:spPr>
          <a:xfrm>
            <a:off x="838200" y="1396181"/>
            <a:ext cx="10515600" cy="4780782"/>
          </a:xfrm>
        </p:spPr>
        <p:txBody>
          <a:bodyPr>
            <a:normAutofit/>
          </a:bodyPr>
          <a:lstStyle/>
          <a:p>
            <a:r>
              <a:rPr lang="en-US" sz="2400" dirty="0"/>
              <a:t>Implement </a:t>
            </a:r>
            <a:r>
              <a:rPr lang="en-US" sz="2400" b="1" dirty="0"/>
              <a:t>data validation and cleaning</a:t>
            </a:r>
            <a:r>
              <a:rPr lang="en-US" sz="2400" dirty="0"/>
              <a:t> to ensure consistency across tables.</a:t>
            </a:r>
          </a:p>
          <a:p>
            <a:r>
              <a:rPr lang="en-US" sz="2400" dirty="0"/>
              <a:t>Use </a:t>
            </a:r>
            <a:r>
              <a:rPr lang="en-US" sz="2400" b="1" dirty="0"/>
              <a:t>indexes on frequently joined columns</a:t>
            </a:r>
            <a:r>
              <a:rPr lang="en-US" sz="2400" dirty="0"/>
              <a:t> (</a:t>
            </a:r>
            <a:r>
              <a:rPr lang="en-US" sz="2400" dirty="0" err="1"/>
              <a:t>cust_id</a:t>
            </a:r>
            <a:r>
              <a:rPr lang="en-US" sz="2400" dirty="0"/>
              <a:t>, </a:t>
            </a:r>
            <a:r>
              <a:rPr lang="en-US" sz="2400" dirty="0" err="1"/>
              <a:t>prod_id</a:t>
            </a:r>
            <a:r>
              <a:rPr lang="en-US" sz="2400" dirty="0"/>
              <a:t>, </a:t>
            </a:r>
            <a:r>
              <a:rPr lang="en-US" sz="2400" dirty="0" err="1"/>
              <a:t>ord_id</a:t>
            </a:r>
            <a:r>
              <a:rPr lang="en-US" sz="2400" dirty="0"/>
              <a:t>) to improve query performance.</a:t>
            </a:r>
          </a:p>
          <a:p>
            <a:r>
              <a:rPr lang="en-US" sz="2400" dirty="0"/>
              <a:t>Convert </a:t>
            </a:r>
            <a:r>
              <a:rPr lang="en-US" sz="2400" b="1" dirty="0"/>
              <a:t>date fields to proper DATE/TIMESTAMP types</a:t>
            </a:r>
            <a:r>
              <a:rPr lang="en-US" sz="2400" dirty="0"/>
              <a:t> for accurate time-based analysis.</a:t>
            </a:r>
          </a:p>
          <a:p>
            <a:r>
              <a:rPr lang="en-US" sz="2400" dirty="0"/>
              <a:t>Regularly monitor </a:t>
            </a:r>
            <a:r>
              <a:rPr lang="en-US" sz="2400" b="1" dirty="0"/>
              <a:t>top customers and best-selling products</a:t>
            </a:r>
            <a:r>
              <a:rPr lang="en-US" sz="2400" dirty="0"/>
              <a:t> to design loyalty programs and targeted promotions.</a:t>
            </a:r>
          </a:p>
          <a:p>
            <a:r>
              <a:rPr lang="en-US" sz="2400" dirty="0"/>
              <a:t>Track </a:t>
            </a:r>
            <a:r>
              <a:rPr lang="en-US" sz="2400" b="1" dirty="0"/>
              <a:t>supplier performance</a:t>
            </a:r>
            <a:r>
              <a:rPr lang="en-US" sz="2400" dirty="0"/>
              <a:t> to negotiate better pricing and ensure product availability.</a:t>
            </a:r>
          </a:p>
          <a:p>
            <a:r>
              <a:rPr lang="en-US" sz="2400" dirty="0"/>
              <a:t>Evaluate </a:t>
            </a:r>
            <a:r>
              <a:rPr lang="en-US" sz="2400" b="1" dirty="0"/>
              <a:t>employee order handling</a:t>
            </a:r>
            <a:r>
              <a:rPr lang="en-US" sz="2400" dirty="0"/>
              <a:t> to identify training needs and reward high performers.</a:t>
            </a:r>
          </a:p>
        </p:txBody>
      </p:sp>
    </p:spTree>
    <p:extLst>
      <p:ext uri="{BB962C8B-B14F-4D97-AF65-F5344CB8AC3E}">
        <p14:creationId xmlns:p14="http://schemas.microsoft.com/office/powerpoint/2010/main" val="26227719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 result for q and pic">
            <a:extLst>
              <a:ext uri="{FF2B5EF4-FFF2-40B4-BE49-F238E27FC236}">
                <a16:creationId xmlns:a16="http://schemas.microsoft.com/office/drawing/2014/main" id="{76543577-5792-F879-FDD5-85439BC0A90D}"/>
              </a:ext>
            </a:extLst>
          </p:cNvPr>
          <p:cNvPicPr>
            <a:picLocks noChangeAspect="1"/>
          </p:cNvPicPr>
          <p:nvPr/>
        </p:nvPicPr>
        <p:blipFill>
          <a:blip r:embed="rId2"/>
          <a:stretch>
            <a:fillRect/>
          </a:stretch>
        </p:blipFill>
        <p:spPr>
          <a:xfrm>
            <a:off x="3500285" y="1474839"/>
            <a:ext cx="5142270" cy="3588774"/>
          </a:xfrm>
          <a:prstGeom prst="rect">
            <a:avLst/>
          </a:prstGeom>
        </p:spPr>
      </p:pic>
    </p:spTree>
    <p:extLst>
      <p:ext uri="{BB962C8B-B14F-4D97-AF65-F5344CB8AC3E}">
        <p14:creationId xmlns:p14="http://schemas.microsoft.com/office/powerpoint/2010/main" val="2443971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201</TotalTime>
  <Words>442</Words>
  <Application>Microsoft Office PowerPoint</Application>
  <PresentationFormat>Widescreen</PresentationFormat>
  <Paragraphs>51</Paragraphs>
  <Slides>23</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Libre Baskerville</vt:lpstr>
      <vt:lpstr>Calibri</vt:lpstr>
      <vt:lpstr>Lato Black</vt:lpstr>
      <vt:lpstr>Arial</vt:lpstr>
      <vt:lpstr>Roboto</vt:lpstr>
      <vt:lpstr>Office Theme</vt:lpstr>
      <vt:lpstr>PowerPoint Presentation</vt:lpstr>
      <vt:lpstr>PowerPoint Presentation</vt:lpstr>
      <vt:lpstr>Agenda</vt:lpstr>
      <vt:lpstr>Buissness Problem</vt:lpstr>
      <vt:lpstr>Objective</vt:lpstr>
      <vt:lpstr>ER Diagram</vt:lpstr>
      <vt:lpstr>Queries Customer Insights </vt:lpstr>
      <vt:lpstr>PowerPoint Presentation</vt:lpstr>
      <vt:lpstr>Product Performance</vt:lpstr>
      <vt:lpstr>PowerPoint Presentation</vt:lpstr>
      <vt:lpstr> Sales and Order Trends </vt:lpstr>
      <vt:lpstr>PowerPoint Presentation</vt:lpstr>
      <vt:lpstr>PowerPoint Presentation</vt:lpstr>
      <vt:lpstr>PowerPoint Presentation</vt:lpstr>
      <vt:lpstr>Employee Performance </vt:lpstr>
      <vt:lpstr>PowerPoint Presentation</vt:lpstr>
      <vt:lpstr>Order Details Deep Dive </vt:lpstr>
      <vt:lpstr>PowerPoint Presentation</vt:lpstr>
      <vt:lpstr>Challenges </vt:lpstr>
      <vt:lpstr>CONCLUSIONS</vt:lpstr>
      <vt:lpstr>RECOMMENDATIONS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Karthik GIRKATI</cp:lastModifiedBy>
  <cp:revision>7</cp:revision>
  <dcterms:created xsi:type="dcterms:W3CDTF">2021-02-16T05:19:01Z</dcterms:created>
  <dcterms:modified xsi:type="dcterms:W3CDTF">2026-05-07T14:41:44Z</dcterms:modified>
</cp:coreProperties>
</file>